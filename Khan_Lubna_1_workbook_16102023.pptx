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86C229-F3E7-4B85-99A6-44A09DE85D43}" v="128" dt="2023-11-04T13:53:57.3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sif Bashir" userId="5686edde-d8b6-4898-bdb0-91a6fd3c37b2" providerId="ADAL" clId="{8986C229-F3E7-4B85-99A6-44A09DE85D43}"/>
    <pc:docChg chg="undo custSel addSld modSld">
      <pc:chgData name="Wasif Bashir" userId="5686edde-d8b6-4898-bdb0-91a6fd3c37b2" providerId="ADAL" clId="{8986C229-F3E7-4B85-99A6-44A09DE85D43}" dt="2023-11-04T13:53:57.366" v="291"/>
      <pc:docMkLst>
        <pc:docMk/>
      </pc:docMkLst>
      <pc:sldChg chg="addSp modSp mod modTransition">
        <pc:chgData name="Wasif Bashir" userId="5686edde-d8b6-4898-bdb0-91a6fd3c37b2" providerId="ADAL" clId="{8986C229-F3E7-4B85-99A6-44A09DE85D43}" dt="2023-11-04T13:40:27.960" v="72" actId="1076"/>
        <pc:sldMkLst>
          <pc:docMk/>
          <pc:sldMk cId="4287042270" sldId="256"/>
        </pc:sldMkLst>
        <pc:spChg chg="mod">
          <ac:chgData name="Wasif Bashir" userId="5686edde-d8b6-4898-bdb0-91a6fd3c37b2" providerId="ADAL" clId="{8986C229-F3E7-4B85-99A6-44A09DE85D43}" dt="2023-11-04T13:40:27.960" v="72" actId="1076"/>
          <ac:spMkLst>
            <pc:docMk/>
            <pc:sldMk cId="4287042270" sldId="256"/>
            <ac:spMk id="5" creationId="{DD524CC5-4742-3B89-765C-7EE4B225F61D}"/>
          </ac:spMkLst>
        </pc:spChg>
        <pc:picChg chg="add mod">
          <ac:chgData name="Wasif Bashir" userId="5686edde-d8b6-4898-bdb0-91a6fd3c37b2" providerId="ADAL" clId="{8986C229-F3E7-4B85-99A6-44A09DE85D43}" dt="2023-11-04T13:36:19.288" v="39" actId="1076"/>
          <ac:picMkLst>
            <pc:docMk/>
            <pc:sldMk cId="4287042270" sldId="256"/>
            <ac:picMk id="6" creationId="{3BF47D15-7CAB-5869-454E-6D18198C15EF}"/>
          </ac:picMkLst>
        </pc:picChg>
        <pc:picChg chg="add mod">
          <ac:chgData name="Wasif Bashir" userId="5686edde-d8b6-4898-bdb0-91a6fd3c37b2" providerId="ADAL" clId="{8986C229-F3E7-4B85-99A6-44A09DE85D43}" dt="2023-11-04T13:36:28.216" v="40" actId="1076"/>
          <ac:picMkLst>
            <pc:docMk/>
            <pc:sldMk cId="4287042270" sldId="256"/>
            <ac:picMk id="1026" creationId="{519B56F9-2ED9-9FE0-D6B3-B5581DCD1E8B}"/>
          </ac:picMkLst>
        </pc:picChg>
      </pc:sldChg>
      <pc:sldChg chg="addSp delSp modSp new mod modAnim">
        <pc:chgData name="Wasif Bashir" userId="5686edde-d8b6-4898-bdb0-91a6fd3c37b2" providerId="ADAL" clId="{8986C229-F3E7-4B85-99A6-44A09DE85D43}" dt="2023-11-04T13:45:13.451" v="185"/>
        <pc:sldMkLst>
          <pc:docMk/>
          <pc:sldMk cId="1663880571" sldId="257"/>
        </pc:sldMkLst>
        <pc:spChg chg="mod">
          <ac:chgData name="Wasif Bashir" userId="5686edde-d8b6-4898-bdb0-91a6fd3c37b2" providerId="ADAL" clId="{8986C229-F3E7-4B85-99A6-44A09DE85D43}" dt="2023-11-04T13:35:31.228" v="33" actId="113"/>
          <ac:spMkLst>
            <pc:docMk/>
            <pc:sldMk cId="1663880571" sldId="257"/>
            <ac:spMk id="2" creationId="{E1004F90-21D4-00A3-B8A2-C35C5ED3F576}"/>
          </ac:spMkLst>
        </pc:spChg>
        <pc:spChg chg="mod">
          <ac:chgData name="Wasif Bashir" userId="5686edde-d8b6-4898-bdb0-91a6fd3c37b2" providerId="ADAL" clId="{8986C229-F3E7-4B85-99A6-44A09DE85D43}" dt="2023-11-04T13:45:02.901" v="183" actId="20577"/>
          <ac:spMkLst>
            <pc:docMk/>
            <pc:sldMk cId="1663880571" sldId="257"/>
            <ac:spMk id="3" creationId="{BDCC9761-4D83-268D-1817-C68D60A1ED71}"/>
          </ac:spMkLst>
        </pc:spChg>
        <pc:spChg chg="add del mod">
          <ac:chgData name="Wasif Bashir" userId="5686edde-d8b6-4898-bdb0-91a6fd3c37b2" providerId="ADAL" clId="{8986C229-F3E7-4B85-99A6-44A09DE85D43}" dt="2023-11-04T13:38:23.730" v="64"/>
          <ac:spMkLst>
            <pc:docMk/>
            <pc:sldMk cId="1663880571" sldId="257"/>
            <ac:spMk id="5" creationId="{2387D679-EDEA-6741-5442-A1DA7E8C20AB}"/>
          </ac:spMkLst>
        </pc:spChg>
        <pc:spChg chg="add mod">
          <ac:chgData name="Wasif Bashir" userId="5686edde-d8b6-4898-bdb0-91a6fd3c37b2" providerId="ADAL" clId="{8986C229-F3E7-4B85-99A6-44A09DE85D43}" dt="2023-11-04T13:44:52.494" v="181" actId="255"/>
          <ac:spMkLst>
            <pc:docMk/>
            <pc:sldMk cId="1663880571" sldId="257"/>
            <ac:spMk id="6" creationId="{4D459ECE-9B48-9E9A-5C49-24137698AFF5}"/>
          </ac:spMkLst>
        </pc:spChg>
        <pc:spChg chg="add mod">
          <ac:chgData name="Wasif Bashir" userId="5686edde-d8b6-4898-bdb0-91a6fd3c37b2" providerId="ADAL" clId="{8986C229-F3E7-4B85-99A6-44A09DE85D43}" dt="2023-11-04T13:45:07.601" v="184" actId="1076"/>
          <ac:spMkLst>
            <pc:docMk/>
            <pc:sldMk cId="1663880571" sldId="257"/>
            <ac:spMk id="7" creationId="{8BD3B3F2-D2C3-02E1-5ACD-9A1F63073CF4}"/>
          </ac:spMkLst>
        </pc:spChg>
        <pc:picChg chg="add mod">
          <ac:chgData name="Wasif Bashir" userId="5686edde-d8b6-4898-bdb0-91a6fd3c37b2" providerId="ADAL" clId="{8986C229-F3E7-4B85-99A6-44A09DE85D43}" dt="2023-11-04T13:37:15.232" v="48" actId="1076"/>
          <ac:picMkLst>
            <pc:docMk/>
            <pc:sldMk cId="1663880571" sldId="257"/>
            <ac:picMk id="4" creationId="{CD7D4883-F5CC-3F9E-A679-469978420AA6}"/>
          </ac:picMkLst>
        </pc:picChg>
        <pc:picChg chg="add mod">
          <ac:chgData name="Wasif Bashir" userId="5686edde-d8b6-4898-bdb0-91a6fd3c37b2" providerId="ADAL" clId="{8986C229-F3E7-4B85-99A6-44A09DE85D43}" dt="2023-11-04T13:37:02.368" v="45" actId="14100"/>
          <ac:picMkLst>
            <pc:docMk/>
            <pc:sldMk cId="1663880571" sldId="257"/>
            <ac:picMk id="2050" creationId="{A4C4C6AA-66DA-96D1-0872-8A974B6307A9}"/>
          </ac:picMkLst>
        </pc:picChg>
      </pc:sldChg>
      <pc:sldChg chg="addSp delSp modSp new mod modAnim">
        <pc:chgData name="Wasif Bashir" userId="5686edde-d8b6-4898-bdb0-91a6fd3c37b2" providerId="ADAL" clId="{8986C229-F3E7-4B85-99A6-44A09DE85D43}" dt="2023-11-04T13:53:57.366" v="291"/>
        <pc:sldMkLst>
          <pc:docMk/>
          <pc:sldMk cId="2484328845" sldId="258"/>
        </pc:sldMkLst>
        <pc:spChg chg="mod">
          <ac:chgData name="Wasif Bashir" userId="5686edde-d8b6-4898-bdb0-91a6fd3c37b2" providerId="ADAL" clId="{8986C229-F3E7-4B85-99A6-44A09DE85D43}" dt="2023-11-04T13:45:59.376" v="210" actId="1076"/>
          <ac:spMkLst>
            <pc:docMk/>
            <pc:sldMk cId="2484328845" sldId="258"/>
            <ac:spMk id="2" creationId="{1D0E60AE-3C5D-C0D9-26B0-F5E5AFE49FDC}"/>
          </ac:spMkLst>
        </pc:spChg>
        <pc:spChg chg="mod">
          <ac:chgData name="Wasif Bashir" userId="5686edde-d8b6-4898-bdb0-91a6fd3c37b2" providerId="ADAL" clId="{8986C229-F3E7-4B85-99A6-44A09DE85D43}" dt="2023-11-04T13:47:20.040" v="229" actId="113"/>
          <ac:spMkLst>
            <pc:docMk/>
            <pc:sldMk cId="2484328845" sldId="258"/>
            <ac:spMk id="3" creationId="{A02DFA99-FDF9-2FE9-98A8-45BA5BBF2069}"/>
          </ac:spMkLst>
        </pc:spChg>
        <pc:spChg chg="add mod">
          <ac:chgData name="Wasif Bashir" userId="5686edde-d8b6-4898-bdb0-91a6fd3c37b2" providerId="ADAL" clId="{8986C229-F3E7-4B85-99A6-44A09DE85D43}" dt="2023-11-04T13:48:04.145" v="235" actId="1076"/>
          <ac:spMkLst>
            <pc:docMk/>
            <pc:sldMk cId="2484328845" sldId="258"/>
            <ac:spMk id="4" creationId="{7516998E-FF7F-9961-DA53-B24FD0D309DB}"/>
          </ac:spMkLst>
        </pc:spChg>
        <pc:spChg chg="add del mod">
          <ac:chgData name="Wasif Bashir" userId="5686edde-d8b6-4898-bdb0-91a6fd3c37b2" providerId="ADAL" clId="{8986C229-F3E7-4B85-99A6-44A09DE85D43}" dt="2023-11-04T13:51:07.043" v="273" actId="115"/>
          <ac:spMkLst>
            <pc:docMk/>
            <pc:sldMk cId="2484328845" sldId="258"/>
            <ac:spMk id="5" creationId="{F8281074-08E0-0B29-8BAD-42DAC973C403}"/>
          </ac:spMkLst>
        </pc:spChg>
        <pc:spChg chg="add mod">
          <ac:chgData name="Wasif Bashir" userId="5686edde-d8b6-4898-bdb0-91a6fd3c37b2" providerId="ADAL" clId="{8986C229-F3E7-4B85-99A6-44A09DE85D43}" dt="2023-11-04T13:53:45.410" v="287" actId="1076"/>
          <ac:spMkLst>
            <pc:docMk/>
            <pc:sldMk cId="2484328845" sldId="258"/>
            <ac:spMk id="7" creationId="{11D2145B-1B64-2D55-58F6-AC60A4CF7991}"/>
          </ac:spMkLst>
        </pc:spChg>
        <pc:picChg chg="add mod">
          <ac:chgData name="Wasif Bashir" userId="5686edde-d8b6-4898-bdb0-91a6fd3c37b2" providerId="ADAL" clId="{8986C229-F3E7-4B85-99A6-44A09DE85D43}" dt="2023-11-04T13:49:00.200" v="244" actId="1076"/>
          <ac:picMkLst>
            <pc:docMk/>
            <pc:sldMk cId="2484328845" sldId="258"/>
            <ac:picMk id="6" creationId="{D581B585-502F-4C7D-887A-5F48C5D3F576}"/>
          </ac:picMkLst>
        </pc:picChg>
        <pc:picChg chg="add mod">
          <ac:chgData name="Wasif Bashir" userId="5686edde-d8b6-4898-bdb0-91a6fd3c37b2" providerId="ADAL" clId="{8986C229-F3E7-4B85-99A6-44A09DE85D43}" dt="2023-11-04T13:48:48.136" v="242" actId="14100"/>
          <ac:picMkLst>
            <pc:docMk/>
            <pc:sldMk cId="2484328845" sldId="258"/>
            <ac:picMk id="3074" creationId="{ABFFA8DC-D933-55FF-1245-DF5AE9C91CC5}"/>
          </ac:picMkLst>
        </pc:picChg>
        <pc:picChg chg="add mod">
          <ac:chgData name="Wasif Bashir" userId="5686edde-d8b6-4898-bdb0-91a6fd3c37b2" providerId="ADAL" clId="{8986C229-F3E7-4B85-99A6-44A09DE85D43}" dt="2023-11-04T13:51:22.375" v="275" actId="14100"/>
          <ac:picMkLst>
            <pc:docMk/>
            <pc:sldMk cId="2484328845" sldId="258"/>
            <ac:picMk id="3076" creationId="{181B2482-4062-DD19-FE40-8CC8E83CAD04}"/>
          </ac:picMkLst>
        </pc:picChg>
        <pc:picChg chg="add mod">
          <ac:chgData name="Wasif Bashir" userId="5686edde-d8b6-4898-bdb0-91a6fd3c37b2" providerId="ADAL" clId="{8986C229-F3E7-4B85-99A6-44A09DE85D43}" dt="2023-11-04T13:52:09.136" v="280" actId="14100"/>
          <ac:picMkLst>
            <pc:docMk/>
            <pc:sldMk cId="2484328845" sldId="258"/>
            <ac:picMk id="3078" creationId="{2C7833D5-C632-1990-3A23-0EB80099318C}"/>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70179E-7C9D-4F88-BE29-140F01CB8681}" type="datetimeFigureOut">
              <a:rPr lang="en-GB" smtClean="0"/>
              <a:t>08/11/2023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4129606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70179E-7C9D-4F88-BE29-140F01CB8681}" type="datetimeFigureOut">
              <a:rPr lang="en-GB" smtClean="0"/>
              <a:t>08/11/2023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2817222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70179E-7C9D-4F88-BE29-140F01CB8681}" type="datetimeFigureOut">
              <a:rPr lang="en-GB" smtClean="0"/>
              <a:t>08/11/2023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2079144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70179E-7C9D-4F88-BE29-140F01CB8681}" type="datetimeFigureOut">
              <a:rPr lang="en-GB" smtClean="0"/>
              <a:t>08/11/2023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2549152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70179E-7C9D-4F88-BE29-140F01CB8681}" type="datetimeFigureOut">
              <a:rPr lang="en-GB" smtClean="0"/>
              <a:t>08/11/2023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3256604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70179E-7C9D-4F88-BE29-140F01CB8681}" type="datetimeFigureOut">
              <a:rPr lang="en-GB" smtClean="0"/>
              <a:t>08/11/2023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264189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2C70179E-7C9D-4F88-BE29-140F01CB8681}" type="datetimeFigureOut">
              <a:rPr lang="en-GB" smtClean="0"/>
              <a:t>08/11/2023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690245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70179E-7C9D-4F88-BE29-140F01CB8681}" type="datetimeFigureOut">
              <a:rPr lang="en-GB" smtClean="0"/>
              <a:t>08/11/2023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1688020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70179E-7C9D-4F88-BE29-140F01CB8681}" type="datetimeFigureOut">
              <a:rPr lang="en-GB" smtClean="0"/>
              <a:t>08/11/2023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3750403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70179E-7C9D-4F88-BE29-140F01CB8681}" type="datetimeFigureOut">
              <a:rPr lang="en-GB" smtClean="0"/>
              <a:t>08/11/2023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3761385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70179E-7C9D-4F88-BE29-140F01CB8681}" type="datetimeFigureOut">
              <a:rPr lang="en-GB" smtClean="0"/>
              <a:t>08/11/2023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3181403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70179E-7C9D-4F88-BE29-140F01CB8681}" type="datetimeFigureOut">
              <a:rPr lang="en-GB" smtClean="0"/>
              <a:t>08/11/2023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4BD2F1-CF7D-4575-99A1-4983C3B7B729}" type="slidenum">
              <a:rPr lang="en-GB" smtClean="0"/>
              <a:t>‹#›</a:t>
            </a:fld>
            <a:endParaRPr lang="en-GB"/>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51267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70179E-7C9D-4F88-BE29-140F01CB8681}" type="datetimeFigureOut">
              <a:rPr lang="en-GB" smtClean="0"/>
              <a:t>08/11/2023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15799689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C70179E-7C9D-4F88-BE29-140F01CB8681}" type="datetimeFigureOut">
              <a:rPr lang="en-GB" smtClean="0"/>
              <a:t>08/11/2023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23769402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C70179E-7C9D-4F88-BE29-140F01CB8681}" type="datetimeFigureOut">
              <a:rPr lang="en-GB" smtClean="0"/>
              <a:t>08/11/2023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42226783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70179E-7C9D-4F88-BE29-140F01CB8681}" type="datetimeFigureOut">
              <a:rPr lang="en-GB" smtClean="0"/>
              <a:t>08/11/2023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13410272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70179E-7C9D-4F88-BE29-140F01CB8681}" type="datetimeFigureOut">
              <a:rPr lang="en-GB" smtClean="0"/>
              <a:t>08/11/2023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36560303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70179E-7C9D-4F88-BE29-140F01CB8681}" type="datetimeFigureOut">
              <a:rPr lang="en-GB" smtClean="0"/>
              <a:t>08/11/2023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558300" y="5956137"/>
            <a:ext cx="1052508" cy="365125"/>
          </a:xfrm>
        </p:spPr>
        <p:txBody>
          <a:bodyPr/>
          <a:lstStyle/>
          <a:p>
            <a:fld id="{D64BD2F1-CF7D-4575-99A1-4983C3B7B729}" type="slidenum">
              <a:rPr lang="en-GB" smtClean="0"/>
              <a:t>‹#›</a:t>
            </a:fld>
            <a:endParaRPr lang="en-GB"/>
          </a:p>
        </p:txBody>
      </p:sp>
    </p:spTree>
    <p:extLst>
      <p:ext uri="{BB962C8B-B14F-4D97-AF65-F5344CB8AC3E}">
        <p14:creationId xmlns:p14="http://schemas.microsoft.com/office/powerpoint/2010/main" val="3143692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2C70179E-7C9D-4F88-BE29-140F01CB8681}" type="datetimeFigureOut">
              <a:rPr lang="en-GB" smtClean="0"/>
              <a:t>08/11/2023</a:t>
            </a:fld>
            <a:endParaRPr lang="en-GB"/>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GB"/>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64BD2F1-CF7D-4575-99A1-4983C3B7B729}" type="slidenum">
              <a:rPr lang="en-GB" smtClean="0"/>
              <a:t>‹#›</a:t>
            </a:fld>
            <a:endParaRPr lang="en-GB"/>
          </a:p>
        </p:txBody>
      </p:sp>
    </p:spTree>
    <p:extLst>
      <p:ext uri="{BB962C8B-B14F-4D97-AF65-F5344CB8AC3E}">
        <p14:creationId xmlns:p14="http://schemas.microsoft.com/office/powerpoint/2010/main" val="1540906506"/>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 id="2147483876"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C3559-3E18-FBF6-EE5F-9AEA52797110}"/>
              </a:ext>
            </a:extLst>
          </p:cNvPr>
          <p:cNvSpPr>
            <a:spLocks noGrp="1"/>
          </p:cNvSpPr>
          <p:nvPr>
            <p:ph type="ctrTitle"/>
          </p:nvPr>
        </p:nvSpPr>
        <p:spPr>
          <a:xfrm>
            <a:off x="1290735" y="291938"/>
            <a:ext cx="9144000" cy="911710"/>
          </a:xfrm>
        </p:spPr>
        <p:txBody>
          <a:bodyPr>
            <a:normAutofit/>
          </a:bodyPr>
          <a:lstStyle/>
          <a:p>
            <a:r>
              <a:rPr lang="en-GB" b="1" dirty="0">
                <a:solidFill>
                  <a:schemeClr val="accent6">
                    <a:lumMod val="75000"/>
                  </a:schemeClr>
                </a:solidFill>
              </a:rPr>
              <a:t>What is SQL?</a:t>
            </a:r>
          </a:p>
        </p:txBody>
      </p:sp>
      <p:sp>
        <p:nvSpPr>
          <p:cNvPr id="3" name="Subtitle 2">
            <a:extLst>
              <a:ext uri="{FF2B5EF4-FFF2-40B4-BE49-F238E27FC236}">
                <a16:creationId xmlns:a16="http://schemas.microsoft.com/office/drawing/2014/main" id="{AE70D392-CBF8-AC48-1D8A-2EFC986B9514}"/>
              </a:ext>
            </a:extLst>
          </p:cNvPr>
          <p:cNvSpPr>
            <a:spLocks noGrp="1"/>
          </p:cNvSpPr>
          <p:nvPr>
            <p:ph type="subTitle" idx="1"/>
          </p:nvPr>
        </p:nvSpPr>
        <p:spPr>
          <a:xfrm>
            <a:off x="1122783" y="5122506"/>
            <a:ext cx="9778481" cy="1595535"/>
          </a:xfrm>
        </p:spPr>
        <p:txBody>
          <a:bodyPr>
            <a:normAutofit/>
          </a:bodyPr>
          <a:lstStyle/>
          <a:p>
            <a:pPr algn="l"/>
            <a:r>
              <a:rPr lang="en-GB" sz="1600" b="1" i="0" dirty="0">
                <a:effectLst/>
                <a:latin typeface="Söhne"/>
              </a:rPr>
              <a:t>In summary, SQL is a powerful and standardized language for managing and querying data in relational databases. Its benefits include data retrieval, modification, integrity, security, scalability, consistency, analysis, interoperability, and structured data storage. These advantages make SQL an essential tool for data management and analysis in a wide range of applications.</a:t>
            </a:r>
          </a:p>
          <a:p>
            <a:endParaRPr lang="en-GB" dirty="0"/>
          </a:p>
        </p:txBody>
      </p:sp>
      <p:sp>
        <p:nvSpPr>
          <p:cNvPr id="4" name="TextBox 3">
            <a:extLst>
              <a:ext uri="{FF2B5EF4-FFF2-40B4-BE49-F238E27FC236}">
                <a16:creationId xmlns:a16="http://schemas.microsoft.com/office/drawing/2014/main" id="{18487FDB-3860-E9AF-50F4-EA40CAA712A4}"/>
              </a:ext>
            </a:extLst>
          </p:cNvPr>
          <p:cNvSpPr txBox="1"/>
          <p:nvPr/>
        </p:nvSpPr>
        <p:spPr>
          <a:xfrm>
            <a:off x="1290735" y="1380931"/>
            <a:ext cx="9868677" cy="1200329"/>
          </a:xfrm>
          <a:prstGeom prst="rect">
            <a:avLst/>
          </a:prstGeom>
          <a:noFill/>
        </p:spPr>
        <p:txBody>
          <a:bodyPr wrap="square" rtlCol="0">
            <a:spAutoFit/>
          </a:bodyPr>
          <a:lstStyle/>
          <a:p>
            <a:r>
              <a:rPr lang="en-GB" sz="1800" b="1" dirty="0">
                <a:solidFill>
                  <a:schemeClr val="accent1">
                    <a:lumMod val="75000"/>
                  </a:schemeClr>
                </a:solidFill>
                <a:ea typeface="+mj-ea"/>
                <a:cs typeface="+mj-cs"/>
              </a:rPr>
              <a:t>SQL (Structured Query Language) is a domain-specific programming language used for managing and querying relational databases. It serves as a standard way to interact with data stored in a relational database management system (RDBMS). Here's an overview of SQL and its benefits:</a:t>
            </a:r>
          </a:p>
          <a:p>
            <a:endParaRPr lang="en-GB" dirty="0"/>
          </a:p>
        </p:txBody>
      </p:sp>
      <p:sp>
        <p:nvSpPr>
          <p:cNvPr id="5" name="TextBox 4">
            <a:extLst>
              <a:ext uri="{FF2B5EF4-FFF2-40B4-BE49-F238E27FC236}">
                <a16:creationId xmlns:a16="http://schemas.microsoft.com/office/drawing/2014/main" id="{DD524CC5-4742-3B89-765C-7EE4B225F61D}"/>
              </a:ext>
            </a:extLst>
          </p:cNvPr>
          <p:cNvSpPr txBox="1"/>
          <p:nvPr/>
        </p:nvSpPr>
        <p:spPr>
          <a:xfrm>
            <a:off x="1250302" y="2363308"/>
            <a:ext cx="9691396" cy="2585323"/>
          </a:xfrm>
          <a:prstGeom prst="rect">
            <a:avLst/>
          </a:prstGeom>
          <a:noFill/>
        </p:spPr>
        <p:txBody>
          <a:bodyPr wrap="square" rtlCol="0">
            <a:spAutoFit/>
          </a:bodyPr>
          <a:lstStyle/>
          <a:p>
            <a:pPr algn="l"/>
            <a:r>
              <a:rPr lang="en-GB" sz="1800" b="1" i="0" dirty="0">
                <a:solidFill>
                  <a:schemeClr val="accent6">
                    <a:lumMod val="75000"/>
                  </a:schemeClr>
                </a:solidFill>
                <a:effectLst/>
              </a:rPr>
              <a:t>What Can SQL do?</a:t>
            </a:r>
          </a:p>
          <a:p>
            <a:pPr algn="l">
              <a:buFont typeface="Arial" panose="020B0604020202020204" pitchFamily="34" charset="0"/>
              <a:buChar char="•"/>
            </a:pPr>
            <a:r>
              <a:rPr lang="en-GB" sz="1800" b="1" i="0" dirty="0">
                <a:solidFill>
                  <a:schemeClr val="accent6">
                    <a:lumMod val="75000"/>
                  </a:schemeClr>
                </a:solidFill>
                <a:effectLst/>
              </a:rPr>
              <a:t>SQL can execute queries against a database</a:t>
            </a:r>
          </a:p>
          <a:p>
            <a:pPr algn="l">
              <a:buFont typeface="Arial" panose="020B0604020202020204" pitchFamily="34" charset="0"/>
              <a:buChar char="•"/>
            </a:pPr>
            <a:r>
              <a:rPr lang="en-GB" sz="1800" b="1" i="0" dirty="0">
                <a:solidFill>
                  <a:schemeClr val="accent6">
                    <a:lumMod val="75000"/>
                  </a:schemeClr>
                </a:solidFill>
                <a:effectLst/>
              </a:rPr>
              <a:t>SQL can retrieve data from a database</a:t>
            </a:r>
          </a:p>
          <a:p>
            <a:pPr algn="l">
              <a:buFont typeface="Arial" panose="020B0604020202020204" pitchFamily="34" charset="0"/>
              <a:buChar char="•"/>
            </a:pPr>
            <a:r>
              <a:rPr lang="en-GB" sz="1800" b="1" i="0" dirty="0">
                <a:solidFill>
                  <a:schemeClr val="accent6">
                    <a:lumMod val="75000"/>
                  </a:schemeClr>
                </a:solidFill>
                <a:effectLst/>
              </a:rPr>
              <a:t>SQL can insert, update and delete records in a database</a:t>
            </a:r>
          </a:p>
          <a:p>
            <a:pPr algn="l">
              <a:buFont typeface="Arial" panose="020B0604020202020204" pitchFamily="34" charset="0"/>
              <a:buChar char="•"/>
            </a:pPr>
            <a:r>
              <a:rPr lang="en-GB" sz="1800" b="1" i="0" dirty="0">
                <a:solidFill>
                  <a:schemeClr val="accent6">
                    <a:lumMod val="75000"/>
                  </a:schemeClr>
                </a:solidFill>
                <a:effectLst/>
              </a:rPr>
              <a:t>SQL can create new databases and tables</a:t>
            </a:r>
          </a:p>
          <a:p>
            <a:pPr algn="l">
              <a:buFont typeface="Arial" panose="020B0604020202020204" pitchFamily="34" charset="0"/>
              <a:buChar char="•"/>
            </a:pPr>
            <a:r>
              <a:rPr lang="en-GB" sz="1800" b="1" i="0" dirty="0">
                <a:solidFill>
                  <a:schemeClr val="accent6">
                    <a:lumMod val="75000"/>
                  </a:schemeClr>
                </a:solidFill>
                <a:effectLst/>
              </a:rPr>
              <a:t>SQL can create stored procedures in a database</a:t>
            </a:r>
          </a:p>
          <a:p>
            <a:pPr algn="l">
              <a:buFont typeface="Arial" panose="020B0604020202020204" pitchFamily="34" charset="0"/>
              <a:buChar char="•"/>
            </a:pPr>
            <a:r>
              <a:rPr lang="en-GB" sz="1800" b="1" i="0" dirty="0">
                <a:solidFill>
                  <a:schemeClr val="accent6">
                    <a:lumMod val="75000"/>
                  </a:schemeClr>
                </a:solidFill>
                <a:effectLst/>
              </a:rPr>
              <a:t>SQL can create views in a database</a:t>
            </a:r>
          </a:p>
          <a:p>
            <a:pPr algn="l">
              <a:buFont typeface="Arial" panose="020B0604020202020204" pitchFamily="34" charset="0"/>
              <a:buChar char="•"/>
            </a:pPr>
            <a:r>
              <a:rPr lang="en-GB" sz="1800" b="1" i="0" dirty="0">
                <a:solidFill>
                  <a:schemeClr val="accent6">
                    <a:lumMod val="75000"/>
                  </a:schemeClr>
                </a:solidFill>
                <a:effectLst/>
              </a:rPr>
              <a:t>SQL can set permissions on tables, procedures, and views</a:t>
            </a:r>
            <a:endParaRPr lang="en-GB" sz="1800" b="0" i="0" dirty="0">
              <a:solidFill>
                <a:schemeClr val="accent6">
                  <a:lumMod val="75000"/>
                </a:schemeClr>
              </a:solidFill>
              <a:effectLst/>
              <a:latin typeface="Söhne"/>
            </a:endParaRPr>
          </a:p>
          <a:p>
            <a:endParaRPr lang="en-GB" dirty="0"/>
          </a:p>
        </p:txBody>
      </p:sp>
      <p:pic>
        <p:nvPicPr>
          <p:cNvPr id="1026" name="Picture 2" descr="SQL Database (generic) | Microsoft Azure Color">
            <a:extLst>
              <a:ext uri="{FF2B5EF4-FFF2-40B4-BE49-F238E27FC236}">
                <a16:creationId xmlns:a16="http://schemas.microsoft.com/office/drawing/2014/main" id="{519B56F9-2ED9-9FE0-D6B3-B5581DCD1E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6568" y="63564"/>
            <a:ext cx="923925" cy="12287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QL Database (generic) | Microsoft Azure Color">
            <a:extLst>
              <a:ext uri="{FF2B5EF4-FFF2-40B4-BE49-F238E27FC236}">
                <a16:creationId xmlns:a16="http://schemas.microsoft.com/office/drawing/2014/main" id="{3BF47D15-7CAB-5869-454E-6D18198C1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524" y="63564"/>
            <a:ext cx="923925"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042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wipe(down)">
                                      <p:cBhvr>
                                        <p:cTn id="20" dur="580">
                                          <p:stCondLst>
                                            <p:cond delay="0"/>
                                          </p:stCondLst>
                                        </p:cTn>
                                        <p:tgtEl>
                                          <p:spTgt spid="3">
                                            <p:txEl>
                                              <p:pRg st="0" end="0"/>
                                            </p:txEl>
                                          </p:spTgt>
                                        </p:tgtEl>
                                      </p:cBhvr>
                                    </p:animEffect>
                                    <p:anim calcmode="lin" valueType="num">
                                      <p:cBhvr>
                                        <p:cTn id="21"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6" dur="26">
                                          <p:stCondLst>
                                            <p:cond delay="650"/>
                                          </p:stCondLst>
                                        </p:cTn>
                                        <p:tgtEl>
                                          <p:spTgt spid="3">
                                            <p:txEl>
                                              <p:pRg st="0" end="0"/>
                                            </p:txEl>
                                          </p:spTgt>
                                        </p:tgtEl>
                                      </p:cBhvr>
                                      <p:to x="100000" y="60000"/>
                                    </p:animScale>
                                    <p:animScale>
                                      <p:cBhvr>
                                        <p:cTn id="27" dur="166" decel="50000">
                                          <p:stCondLst>
                                            <p:cond delay="676"/>
                                          </p:stCondLst>
                                        </p:cTn>
                                        <p:tgtEl>
                                          <p:spTgt spid="3">
                                            <p:txEl>
                                              <p:pRg st="0" end="0"/>
                                            </p:txEl>
                                          </p:spTgt>
                                        </p:tgtEl>
                                      </p:cBhvr>
                                      <p:to x="100000" y="100000"/>
                                    </p:animScale>
                                    <p:animScale>
                                      <p:cBhvr>
                                        <p:cTn id="28" dur="26">
                                          <p:stCondLst>
                                            <p:cond delay="1312"/>
                                          </p:stCondLst>
                                        </p:cTn>
                                        <p:tgtEl>
                                          <p:spTgt spid="3">
                                            <p:txEl>
                                              <p:pRg st="0" end="0"/>
                                            </p:txEl>
                                          </p:spTgt>
                                        </p:tgtEl>
                                      </p:cBhvr>
                                      <p:to x="100000" y="80000"/>
                                    </p:animScale>
                                    <p:animScale>
                                      <p:cBhvr>
                                        <p:cTn id="29" dur="166" decel="50000">
                                          <p:stCondLst>
                                            <p:cond delay="1338"/>
                                          </p:stCondLst>
                                        </p:cTn>
                                        <p:tgtEl>
                                          <p:spTgt spid="3">
                                            <p:txEl>
                                              <p:pRg st="0" end="0"/>
                                            </p:txEl>
                                          </p:spTgt>
                                        </p:tgtEl>
                                      </p:cBhvr>
                                      <p:to x="100000" y="100000"/>
                                    </p:animScale>
                                    <p:animScale>
                                      <p:cBhvr>
                                        <p:cTn id="30" dur="26">
                                          <p:stCondLst>
                                            <p:cond delay="1642"/>
                                          </p:stCondLst>
                                        </p:cTn>
                                        <p:tgtEl>
                                          <p:spTgt spid="3">
                                            <p:txEl>
                                              <p:pRg st="0" end="0"/>
                                            </p:txEl>
                                          </p:spTgt>
                                        </p:tgtEl>
                                      </p:cBhvr>
                                      <p:to x="100000" y="90000"/>
                                    </p:animScale>
                                    <p:animScale>
                                      <p:cBhvr>
                                        <p:cTn id="31" dur="166" decel="50000">
                                          <p:stCondLst>
                                            <p:cond delay="1668"/>
                                          </p:stCondLst>
                                        </p:cTn>
                                        <p:tgtEl>
                                          <p:spTgt spid="3">
                                            <p:txEl>
                                              <p:pRg st="0" end="0"/>
                                            </p:txEl>
                                          </p:spTgt>
                                        </p:tgtEl>
                                      </p:cBhvr>
                                      <p:to x="100000" y="100000"/>
                                    </p:animScale>
                                    <p:animScale>
                                      <p:cBhvr>
                                        <p:cTn id="32" dur="26">
                                          <p:stCondLst>
                                            <p:cond delay="1808"/>
                                          </p:stCondLst>
                                        </p:cTn>
                                        <p:tgtEl>
                                          <p:spTgt spid="3">
                                            <p:txEl>
                                              <p:pRg st="0" end="0"/>
                                            </p:txEl>
                                          </p:spTgt>
                                        </p:tgtEl>
                                      </p:cBhvr>
                                      <p:to x="100000" y="95000"/>
                                    </p:animScale>
                                    <p:animScale>
                                      <p:cBhvr>
                                        <p:cTn id="33" dur="166" decel="50000">
                                          <p:stCondLst>
                                            <p:cond delay="1834"/>
                                          </p:stCondLst>
                                        </p:cTn>
                                        <p:tgtEl>
                                          <p:spTgt spid="3">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04F90-21D4-00A3-B8A2-C35C5ED3F576}"/>
              </a:ext>
            </a:extLst>
          </p:cNvPr>
          <p:cNvSpPr>
            <a:spLocks noGrp="1"/>
          </p:cNvSpPr>
          <p:nvPr>
            <p:ph type="ctrTitle"/>
          </p:nvPr>
        </p:nvSpPr>
        <p:spPr>
          <a:xfrm>
            <a:off x="1356049" y="270588"/>
            <a:ext cx="9144000" cy="709126"/>
          </a:xfrm>
        </p:spPr>
        <p:txBody>
          <a:bodyPr>
            <a:normAutofit fontScale="90000"/>
          </a:bodyPr>
          <a:lstStyle/>
          <a:p>
            <a:r>
              <a:rPr lang="en-GB" b="1" dirty="0">
                <a:solidFill>
                  <a:srgbClr val="FF0000"/>
                </a:solidFill>
              </a:rPr>
              <a:t>What is Python </a:t>
            </a:r>
          </a:p>
        </p:txBody>
      </p:sp>
      <p:sp>
        <p:nvSpPr>
          <p:cNvPr id="3" name="Subtitle 2">
            <a:extLst>
              <a:ext uri="{FF2B5EF4-FFF2-40B4-BE49-F238E27FC236}">
                <a16:creationId xmlns:a16="http://schemas.microsoft.com/office/drawing/2014/main" id="{BDCC9761-4D83-268D-1817-C68D60A1ED71}"/>
              </a:ext>
            </a:extLst>
          </p:cNvPr>
          <p:cNvSpPr>
            <a:spLocks noGrp="1"/>
          </p:cNvSpPr>
          <p:nvPr>
            <p:ph type="subTitle" idx="1"/>
          </p:nvPr>
        </p:nvSpPr>
        <p:spPr>
          <a:xfrm>
            <a:off x="471196" y="1267599"/>
            <a:ext cx="11249608" cy="1093622"/>
          </a:xfrm>
        </p:spPr>
        <p:txBody>
          <a:bodyPr>
            <a:normAutofit fontScale="85000" lnSpcReduction="10000"/>
          </a:bodyPr>
          <a:lstStyle/>
          <a:p>
            <a:pPr algn="l"/>
            <a:r>
              <a:rPr lang="en-GB" sz="1800" b="1" i="0" dirty="0">
                <a:effectLst/>
              </a:rPr>
              <a:t>Python is a high-level, general-purpose programming language. Its design philosophy emphasizes code readability with the use of significant indentation. Python is dynamically typed and garbage-collected. It supports multiple programming paradigms, including structured, object-oriented and functional programming.</a:t>
            </a:r>
            <a:endParaRPr lang="en-GB" sz="1800" b="1" dirty="0"/>
          </a:p>
        </p:txBody>
      </p:sp>
      <p:pic>
        <p:nvPicPr>
          <p:cNvPr id="2050" name="Picture 2">
            <a:extLst>
              <a:ext uri="{FF2B5EF4-FFF2-40B4-BE49-F238E27FC236}">
                <a16:creationId xmlns:a16="http://schemas.microsoft.com/office/drawing/2014/main" id="{A4C4C6AA-66DA-96D1-0872-8A974B6307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3939" y="-18948"/>
            <a:ext cx="1328736" cy="109362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CD7D4883-F5CC-3F9E-A679-469978420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1214" y="0"/>
            <a:ext cx="1328736" cy="109362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D459ECE-9B48-9E9A-5C49-24137698AFF5}"/>
              </a:ext>
            </a:extLst>
          </p:cNvPr>
          <p:cNvSpPr txBox="1"/>
          <p:nvPr/>
        </p:nvSpPr>
        <p:spPr>
          <a:xfrm>
            <a:off x="576165" y="2192694"/>
            <a:ext cx="11039669" cy="2339102"/>
          </a:xfrm>
          <a:prstGeom prst="rect">
            <a:avLst/>
          </a:prstGeom>
          <a:noFill/>
        </p:spPr>
        <p:txBody>
          <a:bodyPr wrap="square" rtlCol="0">
            <a:spAutoFit/>
          </a:bodyPr>
          <a:lstStyle/>
          <a:p>
            <a:pPr algn="l" fontAlgn="base"/>
            <a:r>
              <a:rPr lang="en-GB" b="1" i="0" u="sng" dirty="0">
                <a:solidFill>
                  <a:srgbClr val="FF0000"/>
                </a:solidFill>
                <a:effectLst/>
                <a:latin typeface="Nunito" panose="020F0502020204030204" pitchFamily="2" charset="0"/>
              </a:rPr>
              <a:t>Some Advantages</a:t>
            </a:r>
            <a:r>
              <a:rPr lang="en-GB" b="1" i="0" dirty="0">
                <a:solidFill>
                  <a:srgbClr val="273239"/>
                </a:solidFill>
                <a:effectLst/>
                <a:latin typeface="Nunito" panose="020F0502020204030204" pitchFamily="2" charset="0"/>
              </a:rPr>
              <a:t>: </a:t>
            </a:r>
          </a:p>
          <a:p>
            <a:pPr algn="l" fontAlgn="base">
              <a:buFont typeface="+mj-lt"/>
              <a:buAutoNum type="arabicPeriod"/>
            </a:pPr>
            <a:r>
              <a:rPr lang="en-GB" sz="1600" b="1" i="0" dirty="0">
                <a:solidFill>
                  <a:srgbClr val="273239"/>
                </a:solidFill>
                <a:effectLst/>
              </a:rPr>
              <a:t>Presence of third-party modules:</a:t>
            </a:r>
            <a:r>
              <a:rPr lang="en-GB" sz="1600" b="0" i="0" dirty="0">
                <a:solidFill>
                  <a:srgbClr val="273239"/>
                </a:solidFill>
                <a:effectLst/>
              </a:rPr>
              <a:t> Python has a rich ecosystem of third-party modules and libraries that extend its functionality for various tasks.</a:t>
            </a:r>
          </a:p>
          <a:p>
            <a:pPr algn="l" fontAlgn="base">
              <a:buFont typeface="+mj-lt"/>
              <a:buAutoNum type="arabicPeriod" startAt="2"/>
            </a:pPr>
            <a:r>
              <a:rPr lang="en-GB" sz="1600" b="1" i="0" dirty="0">
                <a:solidFill>
                  <a:srgbClr val="273239"/>
                </a:solidFill>
                <a:effectLst/>
              </a:rPr>
              <a:t>Extensive support libraries:</a:t>
            </a:r>
            <a:r>
              <a:rPr lang="en-GB" sz="1600" b="0" i="0" dirty="0">
                <a:solidFill>
                  <a:srgbClr val="273239"/>
                </a:solidFill>
                <a:effectLst/>
              </a:rPr>
              <a:t> Python boasts extensive support libraries like NumPy for numerical calculations and Pandas for data analytics, making it suitable for scientific and data-related applications. </a:t>
            </a:r>
          </a:p>
          <a:p>
            <a:pPr algn="l" fontAlgn="base">
              <a:buFont typeface="+mj-lt"/>
              <a:buAutoNum type="arabicPeriod" startAt="3"/>
            </a:pPr>
            <a:r>
              <a:rPr lang="en-GB" sz="1600" b="1" i="0" dirty="0">
                <a:solidFill>
                  <a:srgbClr val="273239"/>
                </a:solidFill>
                <a:effectLst/>
              </a:rPr>
              <a:t>Open source and large active community base:</a:t>
            </a:r>
            <a:r>
              <a:rPr lang="en-GB" sz="1600" b="0" i="0" dirty="0">
                <a:solidFill>
                  <a:srgbClr val="273239"/>
                </a:solidFill>
                <a:effectLst/>
              </a:rPr>
              <a:t> Python is open source, and it has a large and active community that contributes to its development and provides support.</a:t>
            </a:r>
          </a:p>
          <a:p>
            <a:pPr algn="l" fontAlgn="base">
              <a:buFont typeface="+mj-lt"/>
              <a:buAutoNum type="arabicPeriod" startAt="3"/>
            </a:pPr>
            <a:r>
              <a:rPr lang="en-GB" sz="1600" dirty="0">
                <a:solidFill>
                  <a:srgbClr val="273239"/>
                </a:solidFill>
              </a:rPr>
              <a:t> </a:t>
            </a:r>
            <a:r>
              <a:rPr lang="en-GB" sz="1600" b="1" i="0" dirty="0">
                <a:solidFill>
                  <a:srgbClr val="273239"/>
                </a:solidFill>
                <a:effectLst/>
              </a:rPr>
              <a:t>User-friendly data structures:</a:t>
            </a:r>
            <a:r>
              <a:rPr lang="en-GB" sz="1600" b="0" i="0" dirty="0">
                <a:solidFill>
                  <a:srgbClr val="273239"/>
                </a:solidFill>
                <a:effectLst/>
              </a:rPr>
              <a:t> Python offers intuitive and easy-to-use data structures, simplifying data manipulation and management.</a:t>
            </a:r>
          </a:p>
        </p:txBody>
      </p:sp>
      <p:sp>
        <p:nvSpPr>
          <p:cNvPr id="7" name="TextBox 6">
            <a:extLst>
              <a:ext uri="{FF2B5EF4-FFF2-40B4-BE49-F238E27FC236}">
                <a16:creationId xmlns:a16="http://schemas.microsoft.com/office/drawing/2014/main" id="{8BD3B3F2-D2C3-02E1-5ACD-9A1F63073CF4}"/>
              </a:ext>
            </a:extLst>
          </p:cNvPr>
          <p:cNvSpPr txBox="1"/>
          <p:nvPr/>
        </p:nvSpPr>
        <p:spPr>
          <a:xfrm>
            <a:off x="576165" y="4436239"/>
            <a:ext cx="10925369" cy="2308324"/>
          </a:xfrm>
          <a:prstGeom prst="rect">
            <a:avLst/>
          </a:prstGeom>
          <a:noFill/>
        </p:spPr>
        <p:txBody>
          <a:bodyPr wrap="square" rtlCol="0">
            <a:spAutoFit/>
          </a:bodyPr>
          <a:lstStyle/>
          <a:p>
            <a:pPr algn="l" fontAlgn="base"/>
            <a:r>
              <a:rPr lang="en-GB" b="1" i="0" u="sng" dirty="0">
                <a:solidFill>
                  <a:srgbClr val="FF0000"/>
                </a:solidFill>
                <a:effectLst/>
              </a:rPr>
              <a:t>Some Disadvantages:</a:t>
            </a:r>
          </a:p>
          <a:p>
            <a:pPr algn="l" fontAlgn="base">
              <a:buFont typeface="+mj-lt"/>
              <a:buAutoNum type="arabicPeriod"/>
            </a:pPr>
            <a:r>
              <a:rPr lang="en-GB" b="1" i="0" dirty="0">
                <a:solidFill>
                  <a:srgbClr val="273239"/>
                </a:solidFill>
                <a:effectLst/>
              </a:rPr>
              <a:t>Performance: </a:t>
            </a:r>
            <a:r>
              <a:rPr lang="en-GB" b="0" i="0" dirty="0">
                <a:solidFill>
                  <a:srgbClr val="273239"/>
                </a:solidFill>
                <a:effectLst/>
              </a:rPr>
              <a:t>Python is an interpreted language, which means that it can be slower than compiled languages like C or Java. This can be an issue for performance-intensive tasks.</a:t>
            </a:r>
          </a:p>
          <a:p>
            <a:pPr algn="l" fontAlgn="base"/>
            <a:r>
              <a:rPr lang="en-GB" b="1" i="0" dirty="0">
                <a:solidFill>
                  <a:srgbClr val="273239"/>
                </a:solidFill>
                <a:effectLst/>
              </a:rPr>
              <a:t>2.Memory consumption:</a:t>
            </a:r>
            <a:r>
              <a:rPr lang="en-GB" b="0" i="0" dirty="0">
                <a:solidFill>
                  <a:srgbClr val="273239"/>
                </a:solidFill>
                <a:effectLst/>
              </a:rPr>
              <a:t> Python can consume a lot of memory, especially when working with large datasets or running complex algorithms.</a:t>
            </a:r>
          </a:p>
          <a:p>
            <a:pPr algn="l" fontAlgn="base">
              <a:buFont typeface="+mj-lt"/>
              <a:buAutoNum type="arabicPeriod" startAt="4"/>
            </a:pPr>
            <a:r>
              <a:rPr lang="en-GB" b="1" i="0" dirty="0">
                <a:solidFill>
                  <a:srgbClr val="273239"/>
                </a:solidFill>
                <a:effectLst/>
              </a:rPr>
              <a:t>Dynamically typed: </a:t>
            </a:r>
            <a:r>
              <a:rPr lang="en-GB" b="0" i="0" dirty="0">
                <a:solidFill>
                  <a:srgbClr val="273239"/>
                </a:solidFill>
                <a:effectLst/>
              </a:rPr>
              <a:t>Python is a dynamically typed language, which means that the types of variables can change at runtime. This can make it more difficult to catch errors and can lead to bugs.</a:t>
            </a:r>
          </a:p>
          <a:p>
            <a:endParaRPr lang="en-GB" dirty="0"/>
          </a:p>
        </p:txBody>
      </p:sp>
    </p:spTree>
    <p:extLst>
      <p:ext uri="{BB962C8B-B14F-4D97-AF65-F5344CB8AC3E}">
        <p14:creationId xmlns:p14="http://schemas.microsoft.com/office/powerpoint/2010/main" val="166388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anim calcmode="lin" valueType="num">
                                      <p:cBhvr>
                                        <p:cTn id="13" dur="2000" fill="hold"/>
                                        <p:tgtEl>
                                          <p:spTgt spid="6"/>
                                        </p:tgtEl>
                                        <p:attrNameLst>
                                          <p:attrName>ppt_w</p:attrName>
                                        </p:attrNameLst>
                                      </p:cBhvr>
                                      <p:tavLst>
                                        <p:tav tm="0" fmla="#ppt_w*sin(2.5*pi*$)">
                                          <p:val>
                                            <p:fltVal val="0"/>
                                          </p:val>
                                        </p:tav>
                                        <p:tav tm="100000">
                                          <p:val>
                                            <p:fltVal val="1"/>
                                          </p:val>
                                        </p:tav>
                                      </p:tavLst>
                                    </p:anim>
                                    <p:anim calcmode="lin" valueType="num">
                                      <p:cBhvr>
                                        <p:cTn id="14"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60AE-3C5D-C0D9-26B0-F5E5AFE49FDC}"/>
              </a:ext>
            </a:extLst>
          </p:cNvPr>
          <p:cNvSpPr>
            <a:spLocks noGrp="1"/>
          </p:cNvSpPr>
          <p:nvPr>
            <p:ph type="title"/>
          </p:nvPr>
        </p:nvSpPr>
        <p:spPr>
          <a:xfrm>
            <a:off x="838200" y="85207"/>
            <a:ext cx="10094167" cy="857185"/>
          </a:xfrm>
        </p:spPr>
        <p:txBody>
          <a:bodyPr>
            <a:normAutofit/>
          </a:bodyPr>
          <a:lstStyle/>
          <a:p>
            <a:pPr algn="ctr"/>
            <a:r>
              <a:rPr lang="en-GB" sz="5400" b="1" dirty="0">
                <a:solidFill>
                  <a:srgbClr val="FF0000"/>
                </a:solidFill>
              </a:rPr>
              <a:t>What is Tableau </a:t>
            </a:r>
          </a:p>
        </p:txBody>
      </p:sp>
      <p:sp>
        <p:nvSpPr>
          <p:cNvPr id="3" name="Content Placeholder 2">
            <a:extLst>
              <a:ext uri="{FF2B5EF4-FFF2-40B4-BE49-F238E27FC236}">
                <a16:creationId xmlns:a16="http://schemas.microsoft.com/office/drawing/2014/main" id="{A02DFA99-FDF9-2FE9-98A8-45BA5BBF2069}"/>
              </a:ext>
            </a:extLst>
          </p:cNvPr>
          <p:cNvSpPr>
            <a:spLocks noGrp="1"/>
          </p:cNvSpPr>
          <p:nvPr>
            <p:ph idx="1"/>
          </p:nvPr>
        </p:nvSpPr>
        <p:spPr>
          <a:xfrm>
            <a:off x="838200" y="1153821"/>
            <a:ext cx="10515600" cy="1094857"/>
          </a:xfrm>
        </p:spPr>
        <p:txBody>
          <a:bodyPr>
            <a:normAutofit fontScale="85000" lnSpcReduction="10000"/>
          </a:bodyPr>
          <a:lstStyle/>
          <a:p>
            <a:pPr marL="0" indent="0">
              <a:buNone/>
            </a:pPr>
            <a:r>
              <a:rPr lang="en-GB" sz="1800" b="1" i="0" dirty="0">
                <a:effectLst/>
              </a:rPr>
              <a:t>Tableau Software is an American interactive data visualization software company focused on business intelligence. It was founded in 2003 in Mountain View, California, and is currently headquartered in Seattle, Washington. In 2019 the company was acquired by Salesforce for $15.7 billion</a:t>
            </a:r>
            <a:endParaRPr lang="en-GB" sz="1800" b="1" dirty="0"/>
          </a:p>
        </p:txBody>
      </p:sp>
      <p:sp>
        <p:nvSpPr>
          <p:cNvPr id="4" name="TextBox 3">
            <a:extLst>
              <a:ext uri="{FF2B5EF4-FFF2-40B4-BE49-F238E27FC236}">
                <a16:creationId xmlns:a16="http://schemas.microsoft.com/office/drawing/2014/main" id="{7516998E-FF7F-9961-DA53-B24FD0D309DB}"/>
              </a:ext>
            </a:extLst>
          </p:cNvPr>
          <p:cNvSpPr txBox="1"/>
          <p:nvPr/>
        </p:nvSpPr>
        <p:spPr>
          <a:xfrm>
            <a:off x="838200" y="1992286"/>
            <a:ext cx="10646229" cy="923330"/>
          </a:xfrm>
          <a:prstGeom prst="rect">
            <a:avLst/>
          </a:prstGeom>
          <a:noFill/>
        </p:spPr>
        <p:txBody>
          <a:bodyPr wrap="square" rtlCol="0">
            <a:spAutoFit/>
          </a:bodyPr>
          <a:lstStyle/>
          <a:p>
            <a:r>
              <a:rPr lang="en-GB" b="1" dirty="0"/>
              <a:t>It helps users create different charts, graphs, maps, dashboards, and stories for visualizing and </a:t>
            </a:r>
            <a:r>
              <a:rPr lang="en-GB" b="1" dirty="0" err="1"/>
              <a:t>analyzing</a:t>
            </a:r>
            <a:r>
              <a:rPr lang="en-GB" b="1" dirty="0"/>
              <a:t> data, to help in making business decisions. Tableau has a lot of unique, exciting features that make it one of the most popular tools in business intelligence (BI)</a:t>
            </a:r>
          </a:p>
        </p:txBody>
      </p:sp>
      <p:sp>
        <p:nvSpPr>
          <p:cNvPr id="5" name="TextBox 4">
            <a:extLst>
              <a:ext uri="{FF2B5EF4-FFF2-40B4-BE49-F238E27FC236}">
                <a16:creationId xmlns:a16="http://schemas.microsoft.com/office/drawing/2014/main" id="{F8281074-08E0-0B29-8BAD-42DAC973C403}"/>
              </a:ext>
            </a:extLst>
          </p:cNvPr>
          <p:cNvSpPr txBox="1"/>
          <p:nvPr/>
        </p:nvSpPr>
        <p:spPr>
          <a:xfrm>
            <a:off x="819539" y="3087143"/>
            <a:ext cx="10534261" cy="646331"/>
          </a:xfrm>
          <a:prstGeom prst="rect">
            <a:avLst/>
          </a:prstGeom>
          <a:noFill/>
        </p:spPr>
        <p:txBody>
          <a:bodyPr wrap="square" rtlCol="0">
            <a:spAutoFit/>
          </a:bodyPr>
          <a:lstStyle/>
          <a:p>
            <a:r>
              <a:rPr lang="en-GB" u="sng" dirty="0">
                <a:solidFill>
                  <a:srgbClr val="FF0000"/>
                </a:solidFill>
              </a:rPr>
              <a:t>Some Benefits</a:t>
            </a:r>
            <a:r>
              <a:rPr lang="en-GB" dirty="0"/>
              <a:t>:</a:t>
            </a:r>
          </a:p>
          <a:p>
            <a:endParaRPr lang="en-GB" dirty="0"/>
          </a:p>
        </p:txBody>
      </p:sp>
      <p:pic>
        <p:nvPicPr>
          <p:cNvPr id="3074" name="Picture 2" descr="Tableau Overview - Select Distinct">
            <a:extLst>
              <a:ext uri="{FF2B5EF4-FFF2-40B4-BE49-F238E27FC236}">
                <a16:creationId xmlns:a16="http://schemas.microsoft.com/office/drawing/2014/main" id="{ABFFA8DC-D933-55FF-1245-DF5AE9C91C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5371" y="0"/>
            <a:ext cx="2381250" cy="124807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ableau Overview - Select Distinct">
            <a:extLst>
              <a:ext uri="{FF2B5EF4-FFF2-40B4-BE49-F238E27FC236}">
                <a16:creationId xmlns:a16="http://schemas.microsoft.com/office/drawing/2014/main" id="{D581B585-502F-4C7D-887A-5F48C5D3F5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0"/>
            <a:ext cx="2381250" cy="124807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dvantages of Tableau">
            <a:extLst>
              <a:ext uri="{FF2B5EF4-FFF2-40B4-BE49-F238E27FC236}">
                <a16:creationId xmlns:a16="http://schemas.microsoft.com/office/drawing/2014/main" id="{181B2482-4062-DD19-FE40-8CC8E83CA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403" y="3026494"/>
            <a:ext cx="4775398" cy="269648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ata Visualization">
            <a:extLst>
              <a:ext uri="{FF2B5EF4-FFF2-40B4-BE49-F238E27FC236}">
                <a16:creationId xmlns:a16="http://schemas.microsoft.com/office/drawing/2014/main" id="{2C7833D5-C632-1990-3A23-0EB8009931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3595" y="2844769"/>
            <a:ext cx="4850959" cy="28782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1D2145B-1B64-2D55-58F6-AC60A4CF7991}"/>
              </a:ext>
            </a:extLst>
          </p:cNvPr>
          <p:cNvSpPr txBox="1"/>
          <p:nvPr/>
        </p:nvSpPr>
        <p:spPr>
          <a:xfrm>
            <a:off x="670250" y="5894508"/>
            <a:ext cx="11049000" cy="584775"/>
          </a:xfrm>
          <a:prstGeom prst="rect">
            <a:avLst/>
          </a:prstGeom>
          <a:noFill/>
        </p:spPr>
        <p:txBody>
          <a:bodyPr wrap="square" rtlCol="0">
            <a:spAutoFit/>
          </a:bodyPr>
          <a:lstStyle/>
          <a:p>
            <a:r>
              <a:rPr lang="en-GB" sz="1600" b="1" i="0" dirty="0">
                <a:solidFill>
                  <a:srgbClr val="374151"/>
                </a:solidFill>
                <a:effectLst/>
              </a:rPr>
              <a:t>Tableau's ability to turn data into actionable insights, its user-friendly interface, and its flexibility in data connection and visualization have made it a leading choice for organizations looking to leverage data for decision-making and reporting.</a:t>
            </a:r>
            <a:endParaRPr lang="en-GB" sz="1600" b="1" dirty="0"/>
          </a:p>
        </p:txBody>
      </p:sp>
    </p:spTree>
    <p:extLst>
      <p:ext uri="{BB962C8B-B14F-4D97-AF65-F5344CB8AC3E}">
        <p14:creationId xmlns:p14="http://schemas.microsoft.com/office/powerpoint/2010/main" val="248432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randombar(horizontal)">
                                      <p:cBhvr>
                                        <p:cTn id="19" dur="500"/>
                                        <p:tgtEl>
                                          <p:spTgt spid="5"/>
                                        </p:tgtEl>
                                      </p:cBhvr>
                                    </p:animEffect>
                                  </p:childTnLst>
                                </p:cTn>
                              </p:par>
                              <p:par>
                                <p:cTn id="20" presetID="14" presetClass="entr" presetSubtype="10" fill="hold" nodeType="with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randombar(horizontal)">
                                      <p:cBhvr>
                                        <p:cTn id="22" dur="500"/>
                                        <p:tgtEl>
                                          <p:spTgt spid="307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078"/>
                                        </p:tgtEl>
                                        <p:attrNameLst>
                                          <p:attrName>style.visibility</p:attrName>
                                        </p:attrNameLst>
                                      </p:cBhvr>
                                      <p:to>
                                        <p:strVal val="visible"/>
                                      </p:to>
                                    </p:set>
                                    <p:animEffect transition="in" filter="circle(in)">
                                      <p:cBhvr>
                                        <p:cTn id="27" dur="2000"/>
                                        <p:tgtEl>
                                          <p:spTgt spid="3078"/>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57578-C9F0-146A-2594-85EA53A936CF}"/>
              </a:ext>
            </a:extLst>
          </p:cNvPr>
          <p:cNvSpPr>
            <a:spLocks noGrp="1"/>
          </p:cNvSpPr>
          <p:nvPr>
            <p:ph type="ctrTitle"/>
          </p:nvPr>
        </p:nvSpPr>
        <p:spPr>
          <a:xfrm>
            <a:off x="3851221" y="478031"/>
            <a:ext cx="4489557" cy="877729"/>
          </a:xfrm>
        </p:spPr>
        <p:txBody>
          <a:bodyPr vert="horz" lIns="91440" tIns="45720" rIns="91440" bIns="45720" rtlCol="0" anchor="ctr">
            <a:normAutofit/>
          </a:bodyPr>
          <a:lstStyle/>
          <a:p>
            <a:pPr algn="l"/>
            <a:r>
              <a:rPr lang="en-US" sz="4000" b="1" kern="1200" dirty="0">
                <a:latin typeface="+mj-lt"/>
                <a:ea typeface="+mj-ea"/>
                <a:cs typeface="+mj-cs"/>
              </a:rPr>
              <a:t>Data Lifecyle</a:t>
            </a:r>
          </a:p>
        </p:txBody>
      </p:sp>
      <p:sp>
        <p:nvSpPr>
          <p:cNvPr id="3" name="Subtitle 2">
            <a:extLst>
              <a:ext uri="{FF2B5EF4-FFF2-40B4-BE49-F238E27FC236}">
                <a16:creationId xmlns:a16="http://schemas.microsoft.com/office/drawing/2014/main" id="{3A957804-4060-3718-E908-9EE6DE0D0D42}"/>
              </a:ext>
            </a:extLst>
          </p:cNvPr>
          <p:cNvSpPr>
            <a:spLocks/>
          </p:cNvSpPr>
          <p:nvPr/>
        </p:nvSpPr>
        <p:spPr>
          <a:xfrm>
            <a:off x="349155" y="1790454"/>
            <a:ext cx="7779701" cy="3124446"/>
          </a:xfrm>
          <a:prstGeom prst="rect">
            <a:avLst/>
          </a:prstGeom>
        </p:spPr>
        <p:txBody>
          <a:bodyPr>
            <a:normAutofit fontScale="77500" lnSpcReduction="20000"/>
          </a:bodyPr>
          <a:lstStyle/>
          <a:p>
            <a:pPr defTabSz="704088">
              <a:lnSpc>
                <a:spcPct val="90000"/>
              </a:lnSpc>
              <a:spcAft>
                <a:spcPts val="600"/>
              </a:spcAft>
            </a:pPr>
            <a:r>
              <a:rPr lang="en-US" sz="2600" b="1" i="1" kern="1200" dirty="0">
                <a:solidFill>
                  <a:srgbClr val="0070C0"/>
                </a:solidFill>
                <a:ea typeface="+mn-ea"/>
                <a:cs typeface="+mn-cs"/>
              </a:rPr>
              <a:t>The data life cycle consists of five key stages:</a:t>
            </a:r>
          </a:p>
          <a:p>
            <a:pPr marL="457200" indent="-457200" defTabSz="704088">
              <a:lnSpc>
                <a:spcPct val="90000"/>
              </a:lnSpc>
              <a:spcAft>
                <a:spcPts val="600"/>
              </a:spcAft>
              <a:buFont typeface="Arial" panose="020B0604020202020204" pitchFamily="34" charset="0"/>
              <a:buChar char="•"/>
            </a:pPr>
            <a:r>
              <a:rPr lang="en-US" sz="2600" b="1" i="1" kern="1200" dirty="0">
                <a:solidFill>
                  <a:schemeClr val="tx1"/>
                </a:solidFill>
                <a:ea typeface="+mn-ea"/>
                <a:cs typeface="+mn-cs"/>
              </a:rPr>
              <a:t> Create: Data is initially generated or collected from various sources, such as sensors, user input, or external systems.</a:t>
            </a:r>
          </a:p>
          <a:p>
            <a:pPr marL="457200" indent="-457200" defTabSz="704088">
              <a:lnSpc>
                <a:spcPct val="90000"/>
              </a:lnSpc>
              <a:spcAft>
                <a:spcPts val="600"/>
              </a:spcAft>
              <a:buFont typeface="Arial" panose="020B0604020202020204" pitchFamily="34" charset="0"/>
              <a:buChar char="•"/>
            </a:pPr>
            <a:r>
              <a:rPr lang="en-US" sz="2600" b="1" i="1" kern="1200" dirty="0">
                <a:solidFill>
                  <a:schemeClr val="tx1"/>
                </a:solidFill>
                <a:ea typeface="+mn-ea"/>
                <a:cs typeface="+mn-cs"/>
              </a:rPr>
              <a:t> Store: The collected data is ingested into a storage system, organized, and stored for easy access and management.</a:t>
            </a:r>
          </a:p>
          <a:p>
            <a:pPr marL="457200" indent="-457200" defTabSz="704088">
              <a:lnSpc>
                <a:spcPct val="90000"/>
              </a:lnSpc>
              <a:spcAft>
                <a:spcPts val="600"/>
              </a:spcAft>
              <a:buFont typeface="Arial" panose="020B0604020202020204" pitchFamily="34" charset="0"/>
              <a:buChar char="•"/>
            </a:pPr>
            <a:r>
              <a:rPr lang="en-US" sz="2600" b="1" i="1" kern="1200" dirty="0">
                <a:solidFill>
                  <a:schemeClr val="tx1"/>
                </a:solidFill>
                <a:ea typeface="+mn-ea"/>
                <a:cs typeface="+mn-cs"/>
              </a:rPr>
              <a:t> Use: Data is processed, analyzed, and interpreted to extract insights and support decision-making.</a:t>
            </a:r>
          </a:p>
          <a:p>
            <a:pPr marL="457200" indent="-457200" defTabSz="704088">
              <a:lnSpc>
                <a:spcPct val="90000"/>
              </a:lnSpc>
              <a:spcAft>
                <a:spcPts val="600"/>
              </a:spcAft>
              <a:buFont typeface="Arial" panose="020B0604020202020204" pitchFamily="34" charset="0"/>
              <a:buChar char="•"/>
            </a:pPr>
            <a:r>
              <a:rPr lang="en-US" sz="2600" b="1" i="1" kern="1200" dirty="0">
                <a:solidFill>
                  <a:schemeClr val="tx1"/>
                </a:solidFill>
                <a:ea typeface="+mn-ea"/>
                <a:cs typeface="+mn-cs"/>
              </a:rPr>
              <a:t> Archive: Data that is no longer actively used but needs to be retained for historical or compliance reasons is securely archived.</a:t>
            </a:r>
          </a:p>
          <a:p>
            <a:pPr marL="457200" indent="-457200" defTabSz="704088">
              <a:lnSpc>
                <a:spcPct val="90000"/>
              </a:lnSpc>
              <a:spcAft>
                <a:spcPts val="600"/>
              </a:spcAft>
              <a:buFont typeface="Arial" panose="020B0604020202020204" pitchFamily="34" charset="0"/>
              <a:buChar char="•"/>
            </a:pPr>
            <a:r>
              <a:rPr lang="en-US" sz="2600" b="1" i="1" kern="1200" dirty="0">
                <a:solidFill>
                  <a:schemeClr val="tx1"/>
                </a:solidFill>
                <a:ea typeface="+mn-ea"/>
                <a:cs typeface="+mn-cs"/>
              </a:rPr>
              <a:t> Delete: When data is no longer needed, it is securely deleted or disposed of in accordance with data privacy and regulatory requirements.</a:t>
            </a:r>
          </a:p>
          <a:p>
            <a:pPr>
              <a:lnSpc>
                <a:spcPct val="90000"/>
              </a:lnSpc>
              <a:spcAft>
                <a:spcPts val="600"/>
              </a:spcAft>
            </a:pPr>
            <a:endParaRPr lang="en-GB" sz="500" dirty="0"/>
          </a:p>
        </p:txBody>
      </p:sp>
      <p:pic>
        <p:nvPicPr>
          <p:cNvPr id="5" name="Picture 4">
            <a:extLst>
              <a:ext uri="{FF2B5EF4-FFF2-40B4-BE49-F238E27FC236}">
                <a16:creationId xmlns:a16="http://schemas.microsoft.com/office/drawing/2014/main" id="{9B5ACFCE-FC51-B4CC-231A-D1B37E8AF6B3}"/>
              </a:ext>
            </a:extLst>
          </p:cNvPr>
          <p:cNvPicPr>
            <a:picLocks noChangeAspect="1"/>
          </p:cNvPicPr>
          <p:nvPr/>
        </p:nvPicPr>
        <p:blipFill rotWithShape="1">
          <a:blip r:embed="rId2"/>
          <a:srcRect l="1941" r="3070" b="2252"/>
          <a:stretch/>
        </p:blipFill>
        <p:spPr>
          <a:xfrm>
            <a:off x="8707400" y="563812"/>
            <a:ext cx="3368351" cy="2024743"/>
          </a:xfrm>
          <a:prstGeom prst="ellipse">
            <a:avLst/>
          </a:prstGeom>
        </p:spPr>
      </p:pic>
      <p:sp>
        <p:nvSpPr>
          <p:cNvPr id="6" name="TextBox 5">
            <a:extLst>
              <a:ext uri="{FF2B5EF4-FFF2-40B4-BE49-F238E27FC236}">
                <a16:creationId xmlns:a16="http://schemas.microsoft.com/office/drawing/2014/main" id="{CF2F492D-FC99-B17D-980F-C6EBBA5EC427}"/>
              </a:ext>
            </a:extLst>
          </p:cNvPr>
          <p:cNvSpPr txBox="1"/>
          <p:nvPr/>
        </p:nvSpPr>
        <p:spPr>
          <a:xfrm>
            <a:off x="1455576" y="4816860"/>
            <a:ext cx="8154955" cy="1477328"/>
          </a:xfrm>
          <a:prstGeom prst="rect">
            <a:avLst/>
          </a:prstGeom>
          <a:noFill/>
        </p:spPr>
        <p:txBody>
          <a:bodyPr wrap="square" rtlCol="0">
            <a:spAutoFit/>
          </a:bodyPr>
          <a:lstStyle/>
          <a:p>
            <a:pPr defTabSz="704088">
              <a:spcAft>
                <a:spcPts val="600"/>
              </a:spcAft>
            </a:pPr>
            <a:r>
              <a:rPr lang="en-US" b="1" i="1" kern="1200" dirty="0">
                <a:solidFill>
                  <a:schemeClr val="tx1"/>
                </a:solidFill>
              </a:rPr>
              <a:t>Spreadsheets are versatile tools in the data lifecycle. They are used to create, store, and analyze data. Spreadsheets can also serve as archives for historical data and facilitate data deletion when necessary. While valuable for many data tasks, they may not be suitable for large-scale or collaborative data management, and organizations often integrate them with more robust data systems.</a:t>
            </a:r>
            <a:endParaRPr lang="en-GB" b="1" i="1" dirty="0"/>
          </a:p>
        </p:txBody>
      </p:sp>
    </p:spTree>
    <p:extLst>
      <p:ext uri="{BB962C8B-B14F-4D97-AF65-F5344CB8AC3E}">
        <p14:creationId xmlns:p14="http://schemas.microsoft.com/office/powerpoint/2010/main" val="342186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down)">
                                      <p:cBhvr>
                                        <p:cTn id="49" dur="500"/>
                                        <p:tgtEl>
                                          <p:spTgt spid="5"/>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randombar(horizontal)">
                                      <p:cBhvr>
                                        <p:cTn id="5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AABF-0C0F-0844-F7F9-83A7938D2E05}"/>
              </a:ext>
            </a:extLst>
          </p:cNvPr>
          <p:cNvSpPr>
            <a:spLocks noGrp="1"/>
          </p:cNvSpPr>
          <p:nvPr>
            <p:ph type="title"/>
          </p:nvPr>
        </p:nvSpPr>
        <p:spPr>
          <a:xfrm>
            <a:off x="1134445" y="356637"/>
            <a:ext cx="10125077" cy="1030515"/>
          </a:xfrm>
        </p:spPr>
        <p:txBody>
          <a:bodyPr vert="horz" lIns="91440" tIns="45720" rIns="91440" bIns="45720" rtlCol="0" anchor="ctr">
            <a:normAutofit fontScale="90000"/>
          </a:bodyPr>
          <a:lstStyle/>
          <a:p>
            <a:r>
              <a:rPr lang="en-US" sz="4200" b="1" dirty="0">
                <a:solidFill>
                  <a:srgbClr val="FFFFFF"/>
                </a:solidFill>
              </a:rPr>
              <a:t>Lifecycle stages that were not used in my </a:t>
            </a:r>
            <a:r>
              <a:rPr lang="en-US" sz="4200" b="1" dirty="0"/>
              <a:t>project</a:t>
            </a:r>
            <a:br>
              <a:rPr lang="en-US" sz="3400" dirty="0">
                <a:solidFill>
                  <a:srgbClr val="FFFFFF"/>
                </a:solidFill>
              </a:rPr>
            </a:br>
            <a:endParaRPr lang="en-US" sz="3400" dirty="0">
              <a:solidFill>
                <a:srgbClr val="FFFFFF"/>
              </a:solidFill>
            </a:endParaRPr>
          </a:p>
        </p:txBody>
      </p:sp>
      <p:pic>
        <p:nvPicPr>
          <p:cNvPr id="1028" name="Picture 4">
            <a:extLst>
              <a:ext uri="{FF2B5EF4-FFF2-40B4-BE49-F238E27FC236}">
                <a16:creationId xmlns:a16="http://schemas.microsoft.com/office/drawing/2014/main" id="{E3B365D4-1BF8-CC0F-DC64-2B22869851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9" r="16552"/>
          <a:stretch/>
        </p:blipFill>
        <p:spPr bwMode="auto">
          <a:xfrm>
            <a:off x="7909540" y="1732962"/>
            <a:ext cx="2939435" cy="261736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70BFED13-2015-416B-E16D-686686BB30DA}"/>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6616" r="16397" b="2"/>
          <a:stretch/>
        </p:blipFill>
        <p:spPr bwMode="auto">
          <a:xfrm>
            <a:off x="905423" y="1732962"/>
            <a:ext cx="2922216" cy="26173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FAC5234-61A3-BB3B-DE52-E1D54B69F3B4}"/>
              </a:ext>
            </a:extLst>
          </p:cNvPr>
          <p:cNvSpPr txBox="1"/>
          <p:nvPr/>
        </p:nvSpPr>
        <p:spPr>
          <a:xfrm>
            <a:off x="723898" y="4496223"/>
            <a:ext cx="11106152" cy="2199851"/>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b="1" i="1" dirty="0"/>
              <a:t>My project involved copying a dataset and creating other tabs based on this data. The data was analyzed and appropriate charts were produced to provide insights based on the effect of energy demand on the environment. The data used was partially deleted in order to highlight demand over various factors. However, there was no need to archive/delete data at this stage as the project was relatively new and not large enough.</a:t>
            </a:r>
          </a:p>
          <a:p>
            <a:pPr indent="-228600">
              <a:lnSpc>
                <a:spcPct val="90000"/>
              </a:lnSpc>
              <a:spcAft>
                <a:spcPts val="600"/>
              </a:spcAft>
              <a:buFont typeface="Arial" panose="020B0604020202020204" pitchFamily="34" charset="0"/>
              <a:buChar char="•"/>
            </a:pPr>
            <a:r>
              <a:rPr lang="en-US" sz="2000" b="1" i="1" dirty="0"/>
              <a:t>Dataspace can utilize offerings such as cloud-based archive, encrypted network drives, external hard drives. All of these can have a retention period specified as to when data can be deleted according to data protection policies.</a:t>
            </a:r>
          </a:p>
        </p:txBody>
      </p:sp>
    </p:spTree>
    <p:extLst>
      <p:ext uri="{BB962C8B-B14F-4D97-AF65-F5344CB8AC3E}">
        <p14:creationId xmlns:p14="http://schemas.microsoft.com/office/powerpoint/2010/main" val="242249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Wisp</Template>
  <TotalTime>54</TotalTime>
  <Words>888</Words>
  <Application>Microsoft Office PowerPoint</Application>
  <PresentationFormat>Widescreen</PresentationFormat>
  <Paragraphs>38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Nunito</vt:lpstr>
      <vt:lpstr>Söhne</vt:lpstr>
      <vt:lpstr>Tw Cen MT</vt:lpstr>
      <vt:lpstr>Droplet</vt:lpstr>
      <vt:lpstr>What is SQL?</vt:lpstr>
      <vt:lpstr>What is Python </vt:lpstr>
      <vt:lpstr>What is Tableau </vt:lpstr>
      <vt:lpstr>Data Lifecyle</vt:lpstr>
      <vt:lpstr>Lifecycle stages that were not used in my project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SQL?</dc:title>
  <dc:creator>Wasif Bashir</dc:creator>
  <cp:lastModifiedBy>WASIF BASHIR</cp:lastModifiedBy>
  <cp:revision>6</cp:revision>
  <dcterms:created xsi:type="dcterms:W3CDTF">2023-11-04T13:28:10Z</dcterms:created>
  <dcterms:modified xsi:type="dcterms:W3CDTF">2023-11-08T22:49:48Z</dcterms:modified>
</cp:coreProperties>
</file>