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sldIdLst>
    <p:sldId id="257" r:id="rId2"/>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11/22/2023</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2572723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11/22/2023</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7179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11/22/2023</a:t>
            </a:fld>
            <a:endParaRPr lang="en-US" dirty="0"/>
          </a:p>
        </p:txBody>
      </p:sp>
    </p:spTree>
    <p:extLst>
      <p:ext uri="{BB962C8B-B14F-4D97-AF65-F5344CB8AC3E}">
        <p14:creationId xmlns:p14="http://schemas.microsoft.com/office/powerpoint/2010/main" val="2330202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11/22/2023</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352600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11/22/2023</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5210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11/22/2023</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15839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11/22/2023</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060066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11/22/2023</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108148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11/22/2023</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836265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11/22/2023</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9206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11/22/2023</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44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11/22/2023</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90769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descr="Multicolored smoke gradient">
            <a:extLst>
              <a:ext uri="{FF2B5EF4-FFF2-40B4-BE49-F238E27FC236}">
                <a16:creationId xmlns:a16="http://schemas.microsoft.com/office/drawing/2014/main" id="{7B093CD5-14ED-BACA-5F6A-059839CDC151}"/>
              </a:ext>
            </a:extLst>
          </p:cNvPr>
          <p:cNvPicPr>
            <a:picLocks noChangeAspect="1"/>
          </p:cNvPicPr>
          <p:nvPr/>
        </p:nvPicPr>
        <p:blipFill rotWithShape="1">
          <a:blip r:embed="rId2"/>
          <a:srcRect t="7956" r="-1" b="7752"/>
          <a:stretch/>
        </p:blipFill>
        <p:spPr>
          <a:xfrm>
            <a:off x="-260977" y="0"/>
            <a:ext cx="12452671" cy="6857990"/>
          </a:xfrm>
          <a:prstGeom prst="rect">
            <a:avLst/>
          </a:prstGeom>
        </p:spPr>
      </p:pic>
      <p:sp>
        <p:nvSpPr>
          <p:cNvPr id="20" name="Freeform: Shape 19">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C87A50C4-1191-461A-9E09-C8057F2AF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035" y="0"/>
            <a:ext cx="2265453" cy="6858000"/>
          </a:xfrm>
          <a:custGeom>
            <a:avLst/>
            <a:gdLst>
              <a:gd name="connsiteX0" fmla="*/ 1117108 w 2265453"/>
              <a:gd name="connsiteY0" fmla="*/ 0 h 6858000"/>
              <a:gd name="connsiteX1" fmla="*/ 1099628 w 2265453"/>
              <a:gd name="connsiteY1" fmla="*/ 0 h 6858000"/>
              <a:gd name="connsiteX2" fmla="*/ 1175238 w 2265453"/>
              <a:gd name="connsiteY2" fmla="*/ 82371 h 6858000"/>
              <a:gd name="connsiteX3" fmla="*/ 2240276 w 2265453"/>
              <a:gd name="connsiteY3" fmla="*/ 3734791 h 6858000"/>
              <a:gd name="connsiteX4" fmla="*/ 274951 w 2265453"/>
              <a:gd name="connsiteY4" fmla="*/ 6634678 h 6858000"/>
              <a:gd name="connsiteX5" fmla="*/ 12802 w 2265453"/>
              <a:gd name="connsiteY5" fmla="*/ 6848127 h 6858000"/>
              <a:gd name="connsiteX6" fmla="*/ 0 w 2265453"/>
              <a:gd name="connsiteY6" fmla="*/ 6858000 h 6858000"/>
              <a:gd name="connsiteX7" fmla="*/ 19410 w 2265453"/>
              <a:gd name="connsiteY7" fmla="*/ 6858000 h 6858000"/>
              <a:gd name="connsiteX8" fmla="*/ 31082 w 2265453"/>
              <a:gd name="connsiteY8" fmla="*/ 6848998 h 6858000"/>
              <a:gd name="connsiteX9" fmla="*/ 293230 w 2265453"/>
              <a:gd name="connsiteY9" fmla="*/ 6635549 h 6858000"/>
              <a:gd name="connsiteX10" fmla="*/ 2258555 w 2265453"/>
              <a:gd name="connsiteY10" fmla="*/ 3735662 h 6858000"/>
              <a:gd name="connsiteX11" fmla="*/ 1193518 w 2265453"/>
              <a:gd name="connsiteY11" fmla="*/ 83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5453" h="6858000">
                <a:moveTo>
                  <a:pt x="1117108" y="0"/>
                </a:moveTo>
                <a:lnTo>
                  <a:pt x="1099628" y="0"/>
                </a:lnTo>
                <a:lnTo>
                  <a:pt x="1175238" y="82371"/>
                </a:lnTo>
                <a:cubicBezTo>
                  <a:pt x="1926546" y="957940"/>
                  <a:pt x="2303836" y="2277119"/>
                  <a:pt x="2240276" y="3734791"/>
                </a:cubicBezTo>
                <a:cubicBezTo>
                  <a:pt x="2176522" y="5196911"/>
                  <a:pt x="1237280" y="5841173"/>
                  <a:pt x="274951" y="6634678"/>
                </a:cubicBezTo>
                <a:cubicBezTo>
                  <a:pt x="187328" y="6706930"/>
                  <a:pt x="100126" y="6778421"/>
                  <a:pt x="12802" y="6848127"/>
                </a:cubicBezTo>
                <a:lnTo>
                  <a:pt x="0" y="6858000"/>
                </a:lnTo>
                <a:lnTo>
                  <a:pt x="19410" y="6858000"/>
                </a:lnTo>
                <a:lnTo>
                  <a:pt x="31082" y="6848998"/>
                </a:lnTo>
                <a:cubicBezTo>
                  <a:pt x="118405" y="6779292"/>
                  <a:pt x="205608" y="6707801"/>
                  <a:pt x="293230" y="6635549"/>
                </a:cubicBezTo>
                <a:cubicBezTo>
                  <a:pt x="1255560" y="5842045"/>
                  <a:pt x="2194802" y="5197782"/>
                  <a:pt x="2258555" y="3735662"/>
                </a:cubicBezTo>
                <a:cubicBezTo>
                  <a:pt x="2322115" y="2277991"/>
                  <a:pt x="1944825" y="958811"/>
                  <a:pt x="1193518" y="83243"/>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03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9" name="Freeform: Shape 18">
            <a:extLst>
              <a:ext uri="{FF2B5EF4-FFF2-40B4-BE49-F238E27FC236}">
                <a16:creationId xmlns:a16="http://schemas.microsoft.com/office/drawing/2014/main" id="{46934B3C-D73F-4CD0-95B1-0244D662D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3292"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676FCF36-F426-2183-B486-8D74909FDA9B}"/>
              </a:ext>
            </a:extLst>
          </p:cNvPr>
          <p:cNvSpPr>
            <a:spLocks noGrp="1"/>
          </p:cNvSpPr>
          <p:nvPr>
            <p:ph type="ctrTitle"/>
          </p:nvPr>
        </p:nvSpPr>
        <p:spPr>
          <a:xfrm>
            <a:off x="1709080" y="189348"/>
            <a:ext cx="7810500" cy="529109"/>
          </a:xfrm>
        </p:spPr>
        <p:txBody>
          <a:bodyPr anchor="b">
            <a:normAutofit fontScale="90000"/>
          </a:bodyPr>
          <a:lstStyle/>
          <a:p>
            <a:pPr algn="ctr"/>
            <a:r>
              <a:rPr lang="en-US" sz="3200" dirty="0">
                <a:solidFill>
                  <a:srgbClr val="0070C0"/>
                </a:solidFill>
              </a:rPr>
              <a:t>Data Lifecyle</a:t>
            </a:r>
            <a:endParaRPr lang="en-GB" sz="3200" dirty="0">
              <a:solidFill>
                <a:srgbClr val="0070C0"/>
              </a:solidFill>
            </a:endParaRPr>
          </a:p>
        </p:txBody>
      </p:sp>
      <p:sp>
        <p:nvSpPr>
          <p:cNvPr id="3" name="Subtitle 2">
            <a:extLst>
              <a:ext uri="{FF2B5EF4-FFF2-40B4-BE49-F238E27FC236}">
                <a16:creationId xmlns:a16="http://schemas.microsoft.com/office/drawing/2014/main" id="{E4CBB2D9-ED3F-0334-D528-103A776A3578}"/>
              </a:ext>
            </a:extLst>
          </p:cNvPr>
          <p:cNvSpPr>
            <a:spLocks noGrp="1"/>
          </p:cNvSpPr>
          <p:nvPr>
            <p:ph type="subTitle" idx="1"/>
          </p:nvPr>
        </p:nvSpPr>
        <p:spPr>
          <a:xfrm>
            <a:off x="2124075" y="829434"/>
            <a:ext cx="7943850" cy="1600438"/>
          </a:xfrm>
        </p:spPr>
        <p:txBody>
          <a:bodyPr anchor="t">
            <a:noAutofit/>
          </a:bodyPr>
          <a:lstStyle/>
          <a:p>
            <a:pPr>
              <a:lnSpc>
                <a:spcPct val="120000"/>
              </a:lnSpc>
            </a:pPr>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Before undertaking a data-related project, particularly one that involves managing the data lifecycle, begin by defining project objectives and identifying key stakeholders, including data owners and IT teams. The data for the project can be collated by conducting surveys, what projects are involved and where in terms of globally or regionally. Financial and other valuable data can be extracted from project management of companies involved.</a:t>
            </a:r>
            <a:endParaRPr lang="en-GB"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30271E3-0AA7-4104-425B-872B492954AB}"/>
              </a:ext>
            </a:extLst>
          </p:cNvPr>
          <p:cNvSpPr txBox="1"/>
          <p:nvPr/>
        </p:nvSpPr>
        <p:spPr>
          <a:xfrm>
            <a:off x="2577277" y="2568561"/>
            <a:ext cx="7347800" cy="738664"/>
          </a:xfrm>
          <a:prstGeom prst="rect">
            <a:avLst/>
          </a:prstGeom>
          <a:noFill/>
        </p:spPr>
        <p:txBody>
          <a:bodyPr wrap="square" rtlCol="0">
            <a:spAutoFit/>
          </a:bodyPr>
          <a:lstStyle/>
          <a:p>
            <a:r>
              <a:rPr lang="en-US" sz="1400" b="1" spc="150" dirty="0">
                <a:latin typeface="Calibri" panose="020F0502020204030204" pitchFamily="34" charset="0"/>
                <a:ea typeface="Calibri" panose="020F0502020204030204" pitchFamily="34" charset="0"/>
                <a:cs typeface="Calibri" panose="020F0502020204030204" pitchFamily="34" charset="0"/>
              </a:rPr>
              <a:t>If data was changed then this new data would need to be updated on the existing data source to allow it to reflect on current visualizations that were set up. This would allow management to view the latest information.</a:t>
            </a:r>
            <a:endParaRPr lang="en-GB" sz="1400" b="1" spc="15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E5DAE1D-06C3-48AA-3596-4A7BC86A888E}"/>
              </a:ext>
            </a:extLst>
          </p:cNvPr>
          <p:cNvSpPr txBox="1"/>
          <p:nvPr/>
        </p:nvSpPr>
        <p:spPr>
          <a:xfrm>
            <a:off x="2031002" y="3363536"/>
            <a:ext cx="8281513" cy="1600438"/>
          </a:xfrm>
          <a:prstGeom prst="rect">
            <a:avLst/>
          </a:prstGeom>
          <a:noFill/>
        </p:spPr>
        <p:txBody>
          <a:bodyPr wrap="square" rtlCol="0">
            <a:spAutoFit/>
          </a:bodyPr>
          <a:lstStyle/>
          <a:p>
            <a:r>
              <a:rPr lang="en-US" sz="1400" b="1" spc="150" dirty="0">
                <a:latin typeface="Calibri" panose="020F0502020204030204" pitchFamily="34" charset="0"/>
                <a:ea typeface="Calibri" panose="020F0502020204030204" pitchFamily="34" charset="0"/>
                <a:cs typeface="Calibri" panose="020F0502020204030204" pitchFamily="34" charset="0"/>
              </a:rPr>
              <a:t>In this project, I have been involved in the Acquire/Transform/</a:t>
            </a:r>
            <a:r>
              <a:rPr lang="en-US" sz="1400" b="1" spc="150" dirty="0" err="1">
                <a:latin typeface="Calibri" panose="020F0502020204030204" pitchFamily="34" charset="0"/>
                <a:ea typeface="Calibri" panose="020F0502020204030204" pitchFamily="34" charset="0"/>
                <a:cs typeface="Calibri" panose="020F0502020204030204" pitchFamily="34" charset="0"/>
              </a:rPr>
              <a:t>Organise</a:t>
            </a:r>
            <a:r>
              <a:rPr lang="en-US" sz="1400" b="1" spc="150" dirty="0">
                <a:latin typeface="Calibri" panose="020F0502020204030204" pitchFamily="34" charset="0"/>
                <a:ea typeface="Calibri" panose="020F0502020204030204" pitchFamily="34" charset="0"/>
                <a:cs typeface="Calibri" panose="020F0502020204030204" pitchFamily="34" charset="0"/>
              </a:rPr>
              <a:t>/</a:t>
            </a:r>
            <a:r>
              <a:rPr lang="en-US" sz="1400" b="1" spc="150" dirty="0" err="1">
                <a:latin typeface="Calibri" panose="020F0502020204030204" pitchFamily="34" charset="0"/>
                <a:ea typeface="Calibri" panose="020F0502020204030204" pitchFamily="34" charset="0"/>
                <a:cs typeface="Calibri" panose="020F0502020204030204" pitchFamily="34" charset="0"/>
              </a:rPr>
              <a:t>Analyse</a:t>
            </a:r>
            <a:r>
              <a:rPr lang="en-US" sz="1400" b="1" spc="150" dirty="0">
                <a:latin typeface="Calibri" panose="020F0502020204030204" pitchFamily="34" charset="0"/>
                <a:ea typeface="Calibri" panose="020F0502020204030204" pitchFamily="34" charset="0"/>
                <a:cs typeface="Calibri" panose="020F0502020204030204" pitchFamily="34" charset="0"/>
              </a:rPr>
              <a:t>/and Communicate stages of the </a:t>
            </a:r>
            <a:r>
              <a:rPr lang="en-US" sz="1400" b="1" u="sng" spc="150" dirty="0">
                <a:solidFill>
                  <a:srgbClr val="FF0000"/>
                </a:solidFill>
                <a:latin typeface="Calibri" panose="020F0502020204030204" pitchFamily="34" charset="0"/>
                <a:ea typeface="Calibri" panose="020F0502020204030204" pitchFamily="34" charset="0"/>
                <a:cs typeface="Calibri" panose="020F0502020204030204" pitchFamily="34" charset="0"/>
              </a:rPr>
              <a:t>data analysis lifecycle</a:t>
            </a:r>
            <a:r>
              <a:rPr lang="en-US" sz="1400" b="1" spc="150" dirty="0">
                <a:latin typeface="Calibri" panose="020F0502020204030204" pitchFamily="34" charset="0"/>
                <a:ea typeface="Calibri" panose="020F0502020204030204" pitchFamily="34" charset="0"/>
                <a:cs typeface="Calibri" panose="020F0502020204030204" pitchFamily="34" charset="0"/>
              </a:rPr>
              <a:t>. The company Dental </a:t>
            </a:r>
            <a:r>
              <a:rPr lang="en-US" sz="1400" b="1" spc="150" dirty="0" err="1">
                <a:latin typeface="Calibri" panose="020F0502020204030204" pitchFamily="34" charset="0"/>
                <a:ea typeface="Calibri" panose="020F0502020204030204" pitchFamily="34" charset="0"/>
                <a:cs typeface="Calibri" panose="020F0502020204030204" pitchFamily="34" charset="0"/>
              </a:rPr>
              <a:t>Pharama</a:t>
            </a:r>
            <a:r>
              <a:rPr lang="en-US" sz="1400" b="1" spc="150" dirty="0">
                <a:latin typeface="Calibri" panose="020F0502020204030204" pitchFamily="34" charset="0"/>
                <a:ea typeface="Calibri" panose="020F0502020204030204" pitchFamily="34" charset="0"/>
                <a:cs typeface="Calibri" panose="020F0502020204030204" pitchFamily="34" charset="0"/>
              </a:rPr>
              <a:t> have supplied me with data in the form of an excel file which has been imported into Tableau. The file was transformed by cleaning and formatting where appropriate initially. Appropriate charts, tables and insights were created based on management communication and analysis. The data was </a:t>
            </a:r>
            <a:r>
              <a:rPr lang="en-US" sz="1400" b="1" spc="150" dirty="0" err="1">
                <a:latin typeface="Calibri" panose="020F0502020204030204" pitchFamily="34" charset="0"/>
                <a:ea typeface="Calibri" panose="020F0502020204030204" pitchFamily="34" charset="0"/>
                <a:cs typeface="Calibri" panose="020F0502020204030204" pitchFamily="34" charset="0"/>
              </a:rPr>
              <a:t>organised</a:t>
            </a:r>
            <a:r>
              <a:rPr lang="en-US" sz="1400" b="1" spc="150" dirty="0">
                <a:latin typeface="Calibri" panose="020F0502020204030204" pitchFamily="34" charset="0"/>
                <a:ea typeface="Calibri" panose="020F0502020204030204" pitchFamily="34" charset="0"/>
                <a:cs typeface="Calibri" panose="020F0502020204030204" pitchFamily="34" charset="0"/>
              </a:rPr>
              <a:t> and shared online via an encrypted website for those users who need access to it remotely.</a:t>
            </a:r>
            <a:endParaRPr lang="en-GB" sz="1400" b="1" spc="150" dirty="0">
              <a:latin typeface="Calibri" panose="020F0502020204030204" pitchFamily="34" charset="0"/>
              <a:ea typeface="Calibri" panose="020F0502020204030204" pitchFamily="34" charset="0"/>
              <a:cs typeface="Calibri" panose="020F0502020204030204" pitchFamily="34" charset="0"/>
            </a:endParaRPr>
          </a:p>
        </p:txBody>
      </p:sp>
      <p:pic>
        <p:nvPicPr>
          <p:cNvPr id="23" name="Picture 22">
            <a:extLst>
              <a:ext uri="{FF2B5EF4-FFF2-40B4-BE49-F238E27FC236}">
                <a16:creationId xmlns:a16="http://schemas.microsoft.com/office/drawing/2014/main" id="{FC2CB438-57A1-1C8D-38D3-1D7DF5178604}"/>
              </a:ext>
            </a:extLst>
          </p:cNvPr>
          <p:cNvPicPr>
            <a:picLocks noChangeAspect="1"/>
          </p:cNvPicPr>
          <p:nvPr/>
        </p:nvPicPr>
        <p:blipFill>
          <a:blip r:embed="rId3"/>
          <a:stretch>
            <a:fillRect/>
          </a:stretch>
        </p:blipFill>
        <p:spPr>
          <a:xfrm>
            <a:off x="11772" y="189348"/>
            <a:ext cx="1844200" cy="2880610"/>
          </a:xfrm>
          <a:prstGeom prst="rect">
            <a:avLst/>
          </a:prstGeom>
        </p:spPr>
      </p:pic>
      <p:sp>
        <p:nvSpPr>
          <p:cNvPr id="24" name="TextBox 23">
            <a:extLst>
              <a:ext uri="{FF2B5EF4-FFF2-40B4-BE49-F238E27FC236}">
                <a16:creationId xmlns:a16="http://schemas.microsoft.com/office/drawing/2014/main" id="{DA012E37-E896-6F27-7996-48D7E60B9AB8}"/>
              </a:ext>
            </a:extLst>
          </p:cNvPr>
          <p:cNvSpPr txBox="1"/>
          <p:nvPr/>
        </p:nvSpPr>
        <p:spPr>
          <a:xfrm>
            <a:off x="1946014" y="5020285"/>
            <a:ext cx="9549052" cy="1569660"/>
          </a:xfrm>
          <a:prstGeom prst="rect">
            <a:avLst/>
          </a:prstGeom>
          <a:noFill/>
        </p:spPr>
        <p:txBody>
          <a:bodyPr wrap="square" rtlCol="0">
            <a:spAutoFit/>
          </a:bodyPr>
          <a:lstStyle/>
          <a:p>
            <a:r>
              <a:rPr lang="en-US" sz="1600" b="1" dirty="0">
                <a:solidFill>
                  <a:srgbClr val="0F0F0F"/>
                </a:solidFill>
                <a:latin typeface="Söhne"/>
              </a:rPr>
              <a:t>This project is a crucial component of the broader data lifecycle, operating in specific stages like</a:t>
            </a:r>
            <a:r>
              <a:rPr lang="en-US" sz="1600" dirty="0">
                <a:solidFill>
                  <a:srgbClr val="0F0F0F"/>
                </a:solidFill>
                <a:latin typeface="Söhne"/>
              </a:rPr>
              <a:t> </a:t>
            </a:r>
          </a:p>
          <a:p>
            <a:pPr marL="742950" lvl="1" indent="-285750">
              <a:buFont typeface="Arial" panose="020B0604020202020204" pitchFamily="34" charset="0"/>
              <a:buChar char="•"/>
            </a:pPr>
            <a:r>
              <a:rPr lang="en-US" sz="1600" b="1" i="1" dirty="0">
                <a:solidFill>
                  <a:srgbClr val="0F0F0F"/>
                </a:solidFill>
                <a:latin typeface="Söhne"/>
              </a:rPr>
              <a:t>data generation, ingestion, storage, processing, analysis, visualization, interpretation, archiving, and disposal. </a:t>
            </a:r>
          </a:p>
          <a:p>
            <a:pPr marL="742950" lvl="1" indent="-285750">
              <a:buFont typeface="Arial" panose="020B0604020202020204" pitchFamily="34" charset="0"/>
              <a:buChar char="•"/>
            </a:pPr>
            <a:r>
              <a:rPr lang="en-US" sz="1600" b="1" i="1" dirty="0">
                <a:solidFill>
                  <a:srgbClr val="0F0F0F"/>
                </a:solidFill>
                <a:latin typeface="Söhne"/>
              </a:rPr>
              <a:t>Tasks within this project, such as data analysis, engineering, or visualization, play a key role in advancing the overall data lifecycle. The project's role is shaped by its distinct objectives, emphasizing specific stages and aligning with organizational goals in the field of data management.</a:t>
            </a:r>
            <a:endParaRPr lang="en-GB" sz="1600" b="1" i="1" dirty="0">
              <a:solidFill>
                <a:srgbClr val="0F0F0F"/>
              </a:solidFill>
              <a:latin typeface="Söhne"/>
            </a:endParaRPr>
          </a:p>
        </p:txBody>
      </p:sp>
      <p:pic>
        <p:nvPicPr>
          <p:cNvPr id="26" name="Picture 25">
            <a:extLst>
              <a:ext uri="{FF2B5EF4-FFF2-40B4-BE49-F238E27FC236}">
                <a16:creationId xmlns:a16="http://schemas.microsoft.com/office/drawing/2014/main" id="{6C8A9C85-DBA6-1FF5-6356-4CCD24E8B056}"/>
              </a:ext>
            </a:extLst>
          </p:cNvPr>
          <p:cNvPicPr>
            <a:picLocks noChangeAspect="1"/>
          </p:cNvPicPr>
          <p:nvPr/>
        </p:nvPicPr>
        <p:blipFill>
          <a:blip r:embed="rId4"/>
          <a:stretch>
            <a:fillRect/>
          </a:stretch>
        </p:blipFill>
        <p:spPr>
          <a:xfrm>
            <a:off x="-196160" y="3149289"/>
            <a:ext cx="2142174" cy="3629370"/>
          </a:xfrm>
          <a:prstGeom prst="rect">
            <a:avLst/>
          </a:prstGeom>
        </p:spPr>
      </p:pic>
    </p:spTree>
    <p:extLst>
      <p:ext uri="{BB962C8B-B14F-4D97-AF65-F5344CB8AC3E}">
        <p14:creationId xmlns:p14="http://schemas.microsoft.com/office/powerpoint/2010/main" val="203024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1000" fill="hold"/>
                                        <p:tgtEl>
                                          <p:spTgt spid="10"/>
                                        </p:tgtEl>
                                        <p:attrNameLst>
                                          <p:attrName>ppt_w</p:attrName>
                                        </p:attrNameLst>
                                      </p:cBhvr>
                                      <p:tavLst>
                                        <p:tav tm="0">
                                          <p:val>
                                            <p:fltVal val="0"/>
                                          </p:val>
                                        </p:tav>
                                        <p:tav tm="100000">
                                          <p:val>
                                            <p:strVal val="#ppt_w"/>
                                          </p:val>
                                        </p:tav>
                                      </p:tavLst>
                                    </p:anim>
                                    <p:anim calcmode="lin" valueType="num">
                                      <p:cBhvr>
                                        <p:cTn id="21" dur="1000" fill="hold"/>
                                        <p:tgtEl>
                                          <p:spTgt spid="10"/>
                                        </p:tgtEl>
                                        <p:attrNameLst>
                                          <p:attrName>ppt_h</p:attrName>
                                        </p:attrNameLst>
                                      </p:cBhvr>
                                      <p:tavLst>
                                        <p:tav tm="0">
                                          <p:val>
                                            <p:fltVal val="0"/>
                                          </p:val>
                                        </p:tav>
                                        <p:tav tm="100000">
                                          <p:val>
                                            <p:strVal val="#ppt_h"/>
                                          </p:val>
                                        </p:tav>
                                      </p:tavLst>
                                    </p:anim>
                                    <p:anim calcmode="lin" valueType="num">
                                      <p:cBhvr>
                                        <p:cTn id="22" dur="1000" fill="hold"/>
                                        <p:tgtEl>
                                          <p:spTgt spid="10"/>
                                        </p:tgtEl>
                                        <p:attrNameLst>
                                          <p:attrName>style.rotation</p:attrName>
                                        </p:attrNameLst>
                                      </p:cBhvr>
                                      <p:tavLst>
                                        <p:tav tm="0">
                                          <p:val>
                                            <p:fltVal val="90"/>
                                          </p:val>
                                        </p:tav>
                                        <p:tav tm="100000">
                                          <p:val>
                                            <p:fltVal val="0"/>
                                          </p:val>
                                        </p:tav>
                                      </p:tavLst>
                                    </p:anim>
                                    <p:animEffect transition="in" filter="fade">
                                      <p:cBhvr>
                                        <p:cTn id="23"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descr="Multicolored smoke gradient">
            <a:extLst>
              <a:ext uri="{FF2B5EF4-FFF2-40B4-BE49-F238E27FC236}">
                <a16:creationId xmlns:a16="http://schemas.microsoft.com/office/drawing/2014/main" id="{7B093CD5-14ED-BACA-5F6A-059839CDC151}"/>
              </a:ext>
            </a:extLst>
          </p:cNvPr>
          <p:cNvPicPr>
            <a:picLocks noChangeAspect="1"/>
          </p:cNvPicPr>
          <p:nvPr/>
        </p:nvPicPr>
        <p:blipFill rotWithShape="1">
          <a:blip r:embed="rId2"/>
          <a:srcRect t="7956" r="-1" b="7752"/>
          <a:stretch/>
        </p:blipFill>
        <p:spPr>
          <a:xfrm>
            <a:off x="1524" y="10"/>
            <a:ext cx="12188952" cy="6857990"/>
          </a:xfrm>
          <a:prstGeom prst="rect">
            <a:avLst/>
          </a:prstGeom>
        </p:spPr>
      </p:pic>
      <p:sp>
        <p:nvSpPr>
          <p:cNvPr id="55" name="Freeform: Shape 54">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C87A50C4-1191-461A-9E09-C8057F2AF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035" y="0"/>
            <a:ext cx="2265453" cy="6858000"/>
          </a:xfrm>
          <a:custGeom>
            <a:avLst/>
            <a:gdLst>
              <a:gd name="connsiteX0" fmla="*/ 1117108 w 2265453"/>
              <a:gd name="connsiteY0" fmla="*/ 0 h 6858000"/>
              <a:gd name="connsiteX1" fmla="*/ 1099628 w 2265453"/>
              <a:gd name="connsiteY1" fmla="*/ 0 h 6858000"/>
              <a:gd name="connsiteX2" fmla="*/ 1175238 w 2265453"/>
              <a:gd name="connsiteY2" fmla="*/ 82371 h 6858000"/>
              <a:gd name="connsiteX3" fmla="*/ 2240276 w 2265453"/>
              <a:gd name="connsiteY3" fmla="*/ 3734791 h 6858000"/>
              <a:gd name="connsiteX4" fmla="*/ 274951 w 2265453"/>
              <a:gd name="connsiteY4" fmla="*/ 6634678 h 6858000"/>
              <a:gd name="connsiteX5" fmla="*/ 12802 w 2265453"/>
              <a:gd name="connsiteY5" fmla="*/ 6848127 h 6858000"/>
              <a:gd name="connsiteX6" fmla="*/ 0 w 2265453"/>
              <a:gd name="connsiteY6" fmla="*/ 6858000 h 6858000"/>
              <a:gd name="connsiteX7" fmla="*/ 19410 w 2265453"/>
              <a:gd name="connsiteY7" fmla="*/ 6858000 h 6858000"/>
              <a:gd name="connsiteX8" fmla="*/ 31082 w 2265453"/>
              <a:gd name="connsiteY8" fmla="*/ 6848998 h 6858000"/>
              <a:gd name="connsiteX9" fmla="*/ 293230 w 2265453"/>
              <a:gd name="connsiteY9" fmla="*/ 6635549 h 6858000"/>
              <a:gd name="connsiteX10" fmla="*/ 2258555 w 2265453"/>
              <a:gd name="connsiteY10" fmla="*/ 3735662 h 6858000"/>
              <a:gd name="connsiteX11" fmla="*/ 1193518 w 2265453"/>
              <a:gd name="connsiteY11" fmla="*/ 83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5453" h="6858000">
                <a:moveTo>
                  <a:pt x="1117108" y="0"/>
                </a:moveTo>
                <a:lnTo>
                  <a:pt x="1099628" y="0"/>
                </a:lnTo>
                <a:lnTo>
                  <a:pt x="1175238" y="82371"/>
                </a:lnTo>
                <a:cubicBezTo>
                  <a:pt x="1926546" y="957940"/>
                  <a:pt x="2303836" y="2277119"/>
                  <a:pt x="2240276" y="3734791"/>
                </a:cubicBezTo>
                <a:cubicBezTo>
                  <a:pt x="2176522" y="5196911"/>
                  <a:pt x="1237280" y="5841173"/>
                  <a:pt x="274951" y="6634678"/>
                </a:cubicBezTo>
                <a:cubicBezTo>
                  <a:pt x="187328" y="6706930"/>
                  <a:pt x="100126" y="6778421"/>
                  <a:pt x="12802" y="6848127"/>
                </a:cubicBezTo>
                <a:lnTo>
                  <a:pt x="0" y="6858000"/>
                </a:lnTo>
                <a:lnTo>
                  <a:pt x="19410" y="6858000"/>
                </a:lnTo>
                <a:lnTo>
                  <a:pt x="31082" y="6848998"/>
                </a:lnTo>
                <a:cubicBezTo>
                  <a:pt x="118405" y="6779292"/>
                  <a:pt x="205608" y="6707801"/>
                  <a:pt x="293230" y="6635549"/>
                </a:cubicBezTo>
                <a:cubicBezTo>
                  <a:pt x="1255560" y="5842045"/>
                  <a:pt x="2194802" y="5197782"/>
                  <a:pt x="2258555" y="3735662"/>
                </a:cubicBezTo>
                <a:cubicBezTo>
                  <a:pt x="2322115" y="2277991"/>
                  <a:pt x="1944825" y="958811"/>
                  <a:pt x="1193518" y="83243"/>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9" name="Freeform: Shape 58">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03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3" name="Freeform: Shape 62">
            <a:extLst>
              <a:ext uri="{FF2B5EF4-FFF2-40B4-BE49-F238E27FC236}">
                <a16:creationId xmlns:a16="http://schemas.microsoft.com/office/drawing/2014/main" id="{46934B3C-D73F-4CD0-95B1-0244D662D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3292"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676FCF36-F426-2183-B486-8D74909FDA9B}"/>
              </a:ext>
            </a:extLst>
          </p:cNvPr>
          <p:cNvSpPr>
            <a:spLocks noGrp="1"/>
          </p:cNvSpPr>
          <p:nvPr>
            <p:ph type="ctrTitle"/>
          </p:nvPr>
        </p:nvSpPr>
        <p:spPr>
          <a:xfrm>
            <a:off x="1955953" y="108018"/>
            <a:ext cx="7810500" cy="701607"/>
          </a:xfrm>
        </p:spPr>
        <p:txBody>
          <a:bodyPr anchor="b">
            <a:normAutofit fontScale="90000"/>
          </a:bodyPr>
          <a:lstStyle/>
          <a:p>
            <a:pPr algn="ctr"/>
            <a:r>
              <a:rPr lang="en-US" sz="3100" dirty="0">
                <a:solidFill>
                  <a:srgbClr val="0070C0"/>
                </a:solidFill>
              </a:rPr>
              <a:t>Requirements</a:t>
            </a:r>
            <a:r>
              <a:rPr lang="en-US" sz="3200" dirty="0"/>
              <a:t> </a:t>
            </a:r>
            <a:r>
              <a:rPr lang="en-US" sz="3100" dirty="0">
                <a:solidFill>
                  <a:srgbClr val="0070C0"/>
                </a:solidFill>
              </a:rPr>
              <a:t>for the project</a:t>
            </a:r>
            <a:endParaRPr lang="en-GB" sz="3100" dirty="0">
              <a:solidFill>
                <a:srgbClr val="0070C0"/>
              </a:solidFill>
            </a:endParaRPr>
          </a:p>
        </p:txBody>
      </p:sp>
      <p:sp>
        <p:nvSpPr>
          <p:cNvPr id="3" name="Subtitle 2">
            <a:extLst>
              <a:ext uri="{FF2B5EF4-FFF2-40B4-BE49-F238E27FC236}">
                <a16:creationId xmlns:a16="http://schemas.microsoft.com/office/drawing/2014/main" id="{E4CBB2D9-ED3F-0334-D528-103A776A3578}"/>
              </a:ext>
            </a:extLst>
          </p:cNvPr>
          <p:cNvSpPr>
            <a:spLocks noGrp="1"/>
          </p:cNvSpPr>
          <p:nvPr>
            <p:ph type="subTitle" idx="1"/>
          </p:nvPr>
        </p:nvSpPr>
        <p:spPr>
          <a:xfrm>
            <a:off x="608859" y="643812"/>
            <a:ext cx="9744816" cy="3575763"/>
          </a:xfrm>
        </p:spPr>
        <p:txBody>
          <a:bodyPr anchor="t">
            <a:normAutofit/>
          </a:bodyPr>
          <a:lstStyle/>
          <a:p>
            <a:pPr algn="ctr">
              <a:lnSpc>
                <a:spcPct val="120000"/>
              </a:lnSpc>
            </a:pPr>
            <a:endParaRPr lang="en-GB" sz="2800" b="1" spc="150" dirty="0">
              <a:solidFill>
                <a:srgbClr val="0070C0"/>
              </a:solidFill>
              <a:latin typeface="+mj-lt"/>
              <a:ea typeface="+mj-ea"/>
              <a:cs typeface="+mj-cs"/>
            </a:endParaRPr>
          </a:p>
          <a:p>
            <a:pPr algn="ctr">
              <a:lnSpc>
                <a:spcPct val="120000"/>
              </a:lnSpc>
            </a:pPr>
            <a:endParaRPr lang="en-GB" sz="1200" dirty="0"/>
          </a:p>
        </p:txBody>
      </p:sp>
      <p:sp>
        <p:nvSpPr>
          <p:cNvPr id="11" name="TextBox 10">
            <a:extLst>
              <a:ext uri="{FF2B5EF4-FFF2-40B4-BE49-F238E27FC236}">
                <a16:creationId xmlns:a16="http://schemas.microsoft.com/office/drawing/2014/main" id="{886A58BB-157C-A4A0-5467-3A5CD5D270B1}"/>
              </a:ext>
            </a:extLst>
          </p:cNvPr>
          <p:cNvSpPr txBox="1"/>
          <p:nvPr/>
        </p:nvSpPr>
        <p:spPr>
          <a:xfrm>
            <a:off x="83976" y="945421"/>
            <a:ext cx="5495703" cy="3970318"/>
          </a:xfrm>
          <a:prstGeom prst="rect">
            <a:avLst/>
          </a:prstGeom>
          <a:noFill/>
        </p:spPr>
        <p:txBody>
          <a:bodyPr wrap="square" rtlCol="0">
            <a:spAutoFit/>
          </a:bodyPr>
          <a:lstStyle/>
          <a:p>
            <a:pPr algn="l"/>
            <a:r>
              <a:rPr lang="en-US" b="1" i="0" dirty="0">
                <a:effectLst/>
                <a:latin typeface="Söhne"/>
              </a:rPr>
              <a:t>Objective:</a:t>
            </a:r>
            <a:endParaRPr lang="en-US" b="0" i="0" dirty="0">
              <a:effectLst/>
              <a:latin typeface="Söhne"/>
            </a:endParaRPr>
          </a:p>
          <a:p>
            <a:pPr algn="l">
              <a:buFont typeface="Arial" panose="020B0604020202020204" pitchFamily="34" charset="0"/>
              <a:buChar char="•"/>
            </a:pPr>
            <a:r>
              <a:rPr lang="en-US" b="0" i="0" dirty="0">
                <a:effectLst/>
                <a:latin typeface="Söhne"/>
              </a:rPr>
              <a:t>Recap Client Meeting &amp; Goal Identification</a:t>
            </a:r>
          </a:p>
          <a:p>
            <a:pPr algn="l"/>
            <a:endParaRPr lang="en-US" b="1" i="0" dirty="0">
              <a:effectLst/>
              <a:latin typeface="Söhne"/>
            </a:endParaRPr>
          </a:p>
          <a:p>
            <a:pPr algn="l"/>
            <a:r>
              <a:rPr lang="en-US" b="1" i="0" dirty="0">
                <a:effectLst/>
                <a:latin typeface="Söhne"/>
              </a:rPr>
              <a:t>Key Highlights:</a:t>
            </a:r>
          </a:p>
          <a:p>
            <a:pPr algn="l"/>
            <a:endParaRPr lang="en-US" b="0" i="0" dirty="0">
              <a:effectLst/>
              <a:latin typeface="Söhne"/>
            </a:endParaRPr>
          </a:p>
          <a:p>
            <a:pPr algn="l">
              <a:buFont typeface="+mj-lt"/>
              <a:buAutoNum type="arabicPeriod"/>
            </a:pPr>
            <a:r>
              <a:rPr lang="en-US" b="1" i="0" dirty="0">
                <a:effectLst/>
                <a:latin typeface="Söhne"/>
              </a:rPr>
              <a:t>Client Meeting:</a:t>
            </a:r>
            <a:endParaRPr lang="en-US" b="0" i="0" dirty="0">
              <a:effectLst/>
              <a:latin typeface="Söhne"/>
            </a:endParaRPr>
          </a:p>
          <a:p>
            <a:pPr marL="742950" lvl="1" indent="-285750" algn="l">
              <a:buFont typeface="+mj-lt"/>
              <a:buAutoNum type="arabicPeriod"/>
            </a:pPr>
            <a:r>
              <a:rPr lang="en-US" b="0" i="0" dirty="0">
                <a:effectLst/>
                <a:latin typeface="Söhne"/>
              </a:rPr>
              <a:t>Comprehensive discussion with the client.</a:t>
            </a:r>
          </a:p>
          <a:p>
            <a:pPr marL="742950" lvl="1" indent="-285750" algn="l">
              <a:buFont typeface="+mj-lt"/>
              <a:buAutoNum type="arabicPeriod"/>
            </a:pPr>
            <a:r>
              <a:rPr lang="en-US" b="0" i="0" dirty="0">
                <a:effectLst/>
                <a:latin typeface="Söhne"/>
              </a:rPr>
              <a:t>Careful documentation of identified goals.</a:t>
            </a:r>
          </a:p>
          <a:p>
            <a:pPr algn="l">
              <a:buFont typeface="+mj-lt"/>
              <a:buAutoNum type="arabicPeriod"/>
            </a:pPr>
            <a:r>
              <a:rPr lang="en-US" b="1" i="0" dirty="0">
                <a:effectLst/>
                <a:latin typeface="Söhne"/>
              </a:rPr>
              <a:t>Visualization Planning:</a:t>
            </a:r>
            <a:endParaRPr lang="en-US" b="0" i="0" dirty="0">
              <a:effectLst/>
              <a:latin typeface="Söhne"/>
            </a:endParaRPr>
          </a:p>
          <a:p>
            <a:pPr marL="742950" lvl="1" indent="-285750" algn="l">
              <a:buFont typeface="+mj-lt"/>
              <a:buAutoNum type="arabicPeriod"/>
            </a:pPr>
            <a:r>
              <a:rPr lang="en-US" b="0" i="0" dirty="0">
                <a:effectLst/>
                <a:latin typeface="Söhne"/>
              </a:rPr>
              <a:t>Translation of client goals into actionable steps.</a:t>
            </a:r>
          </a:p>
          <a:p>
            <a:pPr marL="742950" lvl="1" indent="-285750" algn="l">
              <a:buFont typeface="+mj-lt"/>
              <a:buAutoNum type="arabicPeriod"/>
            </a:pPr>
            <a:r>
              <a:rPr lang="en-US" b="0" i="0" dirty="0">
                <a:effectLst/>
                <a:latin typeface="Söhne"/>
              </a:rPr>
              <a:t>Development of a detailed blueprint and mock-up</a:t>
            </a:r>
          </a:p>
          <a:p>
            <a:pPr algn="l"/>
            <a:r>
              <a:rPr lang="en-US" b="1" i="0" dirty="0">
                <a:effectLst/>
                <a:latin typeface="Söhne"/>
              </a:rPr>
              <a:t>Next Steps:</a:t>
            </a:r>
          </a:p>
          <a:p>
            <a:pPr algn="l"/>
            <a:r>
              <a:rPr lang="en-US" b="0" i="0" dirty="0">
                <a:effectLst/>
                <a:latin typeface="Söhne"/>
              </a:rPr>
              <a:t>   </a:t>
            </a:r>
            <a:r>
              <a:rPr lang="en-US" dirty="0">
                <a:latin typeface="Söhne"/>
              </a:rPr>
              <a:t>       Create a dashboard using the above data</a:t>
            </a:r>
            <a:endParaRPr lang="en-US" b="0" i="0" dirty="0">
              <a:effectLst/>
              <a:latin typeface="Söhne"/>
            </a:endParaRPr>
          </a:p>
        </p:txBody>
      </p:sp>
      <p:sp>
        <p:nvSpPr>
          <p:cNvPr id="14" name="TextBox 13">
            <a:extLst>
              <a:ext uri="{FF2B5EF4-FFF2-40B4-BE49-F238E27FC236}">
                <a16:creationId xmlns:a16="http://schemas.microsoft.com/office/drawing/2014/main" id="{E75B4F8C-B67B-CD51-83E4-C8D7F33B89F6}"/>
              </a:ext>
            </a:extLst>
          </p:cNvPr>
          <p:cNvSpPr txBox="1"/>
          <p:nvPr/>
        </p:nvSpPr>
        <p:spPr>
          <a:xfrm>
            <a:off x="5781833" y="1059835"/>
            <a:ext cx="6408643" cy="4247317"/>
          </a:xfrm>
          <a:prstGeom prst="rect">
            <a:avLst/>
          </a:prstGeom>
          <a:noFill/>
        </p:spPr>
        <p:txBody>
          <a:bodyPr wrap="square" rtlCol="0">
            <a:spAutoFit/>
          </a:bodyPr>
          <a:lstStyle/>
          <a:p>
            <a:r>
              <a:rPr lang="en-US" b="1" i="0" dirty="0">
                <a:solidFill>
                  <a:srgbClr val="0F0F0F"/>
                </a:solidFill>
                <a:effectLst/>
                <a:latin typeface="Söhne"/>
              </a:rPr>
              <a:t>Steps to Ensure Business Needs are Met:</a:t>
            </a:r>
          </a:p>
          <a:p>
            <a:pPr algn="l">
              <a:buFont typeface="+mj-lt"/>
              <a:buAutoNum type="arabicPeriod"/>
            </a:pPr>
            <a:r>
              <a:rPr lang="en-US" b="1" i="0" dirty="0">
                <a:effectLst/>
                <a:latin typeface="Söhne"/>
              </a:rPr>
              <a:t> Interactive Dashboard for Managers:</a:t>
            </a:r>
            <a:endParaRPr lang="en-US" dirty="0">
              <a:latin typeface="Söhne"/>
            </a:endParaRPr>
          </a:p>
          <a:p>
            <a:pPr algn="l"/>
            <a:r>
              <a:rPr lang="en-US" b="0" i="0" dirty="0">
                <a:solidFill>
                  <a:srgbClr val="0F0F0F"/>
                </a:solidFill>
                <a:effectLst/>
                <a:latin typeface="Söhne"/>
              </a:rPr>
              <a:t>Align the design with client goals and ensure user-friendly features for efficient data access.</a:t>
            </a:r>
            <a:endParaRPr lang="en-US" b="1" i="0" dirty="0">
              <a:effectLst/>
              <a:latin typeface="Söhne"/>
            </a:endParaRPr>
          </a:p>
          <a:p>
            <a:pPr algn="l"/>
            <a:r>
              <a:rPr lang="en-US" b="1" i="0" dirty="0">
                <a:effectLst/>
                <a:latin typeface="Söhne"/>
              </a:rPr>
              <a:t>2. Testing Process:</a:t>
            </a:r>
            <a:endParaRPr lang="en-US" dirty="0">
              <a:latin typeface="Söhne"/>
            </a:endParaRPr>
          </a:p>
          <a:p>
            <a:pPr algn="l"/>
            <a:r>
              <a:rPr lang="en-US" b="0" i="0" dirty="0">
                <a:solidFill>
                  <a:srgbClr val="0F0F0F"/>
                </a:solidFill>
                <a:effectLst/>
                <a:latin typeface="Söhne"/>
              </a:rPr>
              <a:t>Conduct personal &amp; collaborative testing and refine based on collected feedback to ensure alignment with end-users' expectations.</a:t>
            </a:r>
            <a:endParaRPr lang="en-US" b="1" i="0" dirty="0">
              <a:effectLst/>
              <a:latin typeface="Söhne"/>
            </a:endParaRPr>
          </a:p>
          <a:p>
            <a:pPr algn="l"/>
            <a:r>
              <a:rPr lang="en-US" b="1" i="0" dirty="0">
                <a:effectLst/>
                <a:latin typeface="Söhne"/>
              </a:rPr>
              <a:t>3. Online Publication:</a:t>
            </a:r>
            <a:endParaRPr lang="en-US" dirty="0">
              <a:latin typeface="Söhne"/>
            </a:endParaRPr>
          </a:p>
          <a:p>
            <a:pPr algn="l"/>
            <a:r>
              <a:rPr lang="en-US" b="0" i="0" dirty="0">
                <a:effectLst/>
                <a:latin typeface="Söhne"/>
              </a:rPr>
              <a:t>Securely publish for authorized manager access and Implement version control for a seamless user experience.</a:t>
            </a:r>
          </a:p>
          <a:p>
            <a:pPr algn="l"/>
            <a:r>
              <a:rPr lang="en-US" b="1" i="0" dirty="0">
                <a:effectLst/>
                <a:latin typeface="Söhne"/>
              </a:rPr>
              <a:t>4. Training and Support:</a:t>
            </a:r>
            <a:endParaRPr lang="en-US" dirty="0">
              <a:latin typeface="Söhne"/>
            </a:endParaRPr>
          </a:p>
          <a:p>
            <a:r>
              <a:rPr lang="en-US" b="0" i="0" dirty="0">
                <a:solidFill>
                  <a:srgbClr val="0F0F0F"/>
                </a:solidFill>
                <a:effectLst/>
                <a:latin typeface="Söhne"/>
              </a:rPr>
              <a:t>Provide managers with effective training sessions and establish a support system to address initial challenges.</a:t>
            </a:r>
            <a:endParaRPr lang="en-US" b="1" dirty="0">
              <a:solidFill>
                <a:srgbClr val="0F0F0F"/>
              </a:solidFill>
              <a:latin typeface="Söhne"/>
            </a:endParaRPr>
          </a:p>
          <a:p>
            <a:endParaRPr lang="en-GB" dirty="0"/>
          </a:p>
        </p:txBody>
      </p:sp>
      <p:sp>
        <p:nvSpPr>
          <p:cNvPr id="18" name="TextBox 17">
            <a:extLst>
              <a:ext uri="{FF2B5EF4-FFF2-40B4-BE49-F238E27FC236}">
                <a16:creationId xmlns:a16="http://schemas.microsoft.com/office/drawing/2014/main" id="{F771FA79-FB48-43CA-2C80-CC4CB76264A0}"/>
              </a:ext>
            </a:extLst>
          </p:cNvPr>
          <p:cNvSpPr txBox="1"/>
          <p:nvPr/>
        </p:nvSpPr>
        <p:spPr>
          <a:xfrm>
            <a:off x="155074" y="5852693"/>
            <a:ext cx="11881852" cy="646331"/>
          </a:xfrm>
          <a:prstGeom prst="rect">
            <a:avLst/>
          </a:prstGeom>
          <a:noFill/>
        </p:spPr>
        <p:txBody>
          <a:bodyPr wrap="square" rtlCol="0">
            <a:spAutoFit/>
          </a:bodyPr>
          <a:lstStyle/>
          <a:p>
            <a:r>
              <a:rPr lang="en-US" b="0" i="0" dirty="0">
                <a:solidFill>
                  <a:srgbClr val="0F0F0F"/>
                </a:solidFill>
                <a:effectLst/>
                <a:latin typeface="Söhne"/>
              </a:rPr>
              <a:t>Enhance the dashboard with hover-over mini charts, city labels on maps for precise locations, and color coordination for clearer data interpretation.</a:t>
            </a:r>
            <a:endParaRPr lang="en-GB" dirty="0"/>
          </a:p>
        </p:txBody>
      </p:sp>
    </p:spTree>
    <p:extLst>
      <p:ext uri="{BB962C8B-B14F-4D97-AF65-F5344CB8AC3E}">
        <p14:creationId xmlns:p14="http://schemas.microsoft.com/office/powerpoint/2010/main" val="3428470367"/>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otalTime>419</TotalTime>
  <Words>480</Words>
  <Application>Microsoft Office PowerPoint</Application>
  <PresentationFormat>Widescreen</PresentationFormat>
  <Paragraphs>31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Meiryo</vt:lpstr>
      <vt:lpstr>Arial</vt:lpstr>
      <vt:lpstr>Calibri</vt:lpstr>
      <vt:lpstr>Corbel</vt:lpstr>
      <vt:lpstr>Söhne</vt:lpstr>
      <vt:lpstr>SketchLinesVTI</vt:lpstr>
      <vt:lpstr>Data Lifecyle</vt:lpstr>
      <vt:lpstr>Requirements for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Lifecyle</dc:title>
  <dc:creator>WASIF BASHIR</dc:creator>
  <cp:lastModifiedBy>WASIF BASHIR</cp:lastModifiedBy>
  <cp:revision>16</cp:revision>
  <dcterms:created xsi:type="dcterms:W3CDTF">2023-11-19T17:50:25Z</dcterms:created>
  <dcterms:modified xsi:type="dcterms:W3CDTF">2023-11-22T14:16:29Z</dcterms:modified>
</cp:coreProperties>
</file>